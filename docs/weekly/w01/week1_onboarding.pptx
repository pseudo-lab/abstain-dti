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57" r:id="rId3"/>
    <p:sldId id="263" r:id="rId4"/>
    <p:sldId id="261" r:id="rId5"/>
    <p:sldId id="266" r:id="rId6"/>
    <p:sldId id="265" r:id="rId7"/>
    <p:sldId id="258" r:id="rId8"/>
    <p:sldId id="262" r:id="rId9"/>
    <p:sldId id="268" r:id="rId10"/>
    <p:sldId id="270" r:id="rId11"/>
    <p:sldId id="272" r:id="rId12"/>
    <p:sldId id="269" r:id="rId13"/>
    <p:sldId id="273" r:id="rId14"/>
    <p:sldId id="274" r:id="rId15"/>
    <p:sldId id="275" r:id="rId16"/>
    <p:sldId id="276" r:id="rId17"/>
    <p:sldId id="278" r:id="rId18"/>
    <p:sldId id="271" r:id="rId19"/>
    <p:sldId id="279" r:id="rId20"/>
    <p:sldId id="281" r:id="rId21"/>
    <p:sldId id="280" r:id="rId22"/>
    <p:sldId id="264" r:id="rId23"/>
    <p:sldId id="28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87"/>
    <p:restoredTop sz="83541"/>
  </p:normalViewPr>
  <p:slideViewPr>
    <p:cSldViewPr snapToGrid="0">
      <p:cViewPr varScale="1">
        <p:scale>
          <a:sx n="104" d="100"/>
          <a:sy n="104" d="100"/>
        </p:scale>
        <p:origin x="18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4E94F-39FC-A9F9-D3E9-64D59CA5E4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DDF903-72F2-4677-3580-4F46C495AA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7A859-5606-A93E-BB6F-FE16F7098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C377-EEFB-4C45-8407-C8CDC7CEF1A6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E24A4-46ED-C9C4-5A61-CCFFB9248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CD3E1-0EAB-F7EC-C0E7-20F434D8B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75C08-630F-454B-9756-F7746918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708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818D-09AE-4CD2-3C65-237AD773C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66120-0A55-3491-F9FC-FA77E459C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A7AE2-5834-0D17-3723-BA2E3B061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C377-EEFB-4C45-8407-C8CDC7CEF1A6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5774D-A272-7376-3C02-001543669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ACF0F-A1F0-6D7E-CAF6-4CC2160F3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75C08-630F-454B-9756-F7746918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44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C0D0C-9A5E-1DC8-B48D-462EC1137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B9DA2A-2DEE-9610-8C02-76F0509BF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C9484-120D-D4EA-1596-D41E29CD8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C377-EEFB-4C45-8407-C8CDC7CEF1A6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D4205-C155-43D2-3731-EBD5BE605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70BC6-00BF-D9C6-1C28-7A40BF009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75C08-630F-454B-9756-F7746918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688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CD8CC-70E9-FA50-0F0F-DA5B153FA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14AFE-FC07-AEF4-5399-95D9EDE30E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E32301-6784-5487-9CE5-515F6B9AD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C91A0C-DFC4-4605-55B2-B29681AFA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C377-EEFB-4C45-8407-C8CDC7CEF1A6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687EFC-BE51-6533-6B61-DC3ABCB8C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BC7EBC-9AB8-862A-8745-6C5E18BA5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75C08-630F-454B-9756-F7746918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138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9B2AD-A834-85E2-9455-CEDEFD44E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2F89C9-D432-482B-3D1F-D7D764DBB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84541-EF8D-D69A-90D8-E12D0EAA42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0D6CD3-510F-BA81-1937-D70F85A8E6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EB1CC5-BFCB-7FF5-388B-300B270A6B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E70F96-EBE8-655D-4B5D-21A896F50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C377-EEFB-4C45-8407-C8CDC7CEF1A6}" type="datetimeFigureOut">
              <a:rPr lang="en-US" smtClean="0"/>
              <a:t>10/9/26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452A28-845B-5B57-014C-F6DAEBDF8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6DBFB1-EF9A-E20C-1ED9-9AC17AA63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75C08-630F-454B-9756-F7746918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60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9FE5D-1D9A-CE6B-DA33-3F5044A32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6D3800-44EC-6157-BDBF-02F422276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C377-EEFB-4C45-8407-C8CDC7CEF1A6}" type="datetimeFigureOut">
              <a:rPr lang="en-US" smtClean="0"/>
              <a:t>10/9/26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DCD316-28D8-1FCB-0D4B-E9191C39E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0FD85C-B0DC-AEF4-7156-74EE9A17C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75C08-630F-454B-9756-F7746918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384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43B442-B2E5-1F86-3413-1C2369072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C377-EEFB-4C45-8407-C8CDC7CEF1A6}" type="datetimeFigureOut">
              <a:rPr lang="en-US" smtClean="0"/>
              <a:t>10/9/26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BC32BD-B167-88EB-110D-207E15030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F0793-ECA8-D3CD-5338-A75B80A9C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75C08-630F-454B-9756-F7746918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949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592C5-AEA2-D627-F76B-35C7AD5ED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FB2FA-4BA3-535D-51B2-E4593DE49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344C6D-89EA-24AC-1FF8-F95BD17633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05508-C723-CD46-7318-308390F53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C377-EEFB-4C45-8407-C8CDC7CEF1A6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176D5-4632-D0A7-5613-74B545FFA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88A436-F2F6-D971-481D-09EBD1D3F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75C08-630F-454B-9756-F7746918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83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9500A-DFB4-2498-10F9-06BA8E84D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D4B8A4-B9F6-E42A-516E-88B36466CA5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7E1EC0-4898-2864-C170-2722380CD8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EFEBAB-3519-3441-8AE8-7F4503536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C377-EEFB-4C45-8407-C8CDC7CEF1A6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37188A-EA89-C55D-5EAB-931F3C22D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B9FAA-B873-BCFD-7103-B4CEC9FA3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75C08-630F-454B-9756-F7746918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096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6068A-F98A-DC2F-8646-7B8BB920E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93BFA2-71F6-AE7C-25AA-FD8A72333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96F7C-1016-F546-9830-7F57172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C377-EEFB-4C45-8407-C8CDC7CEF1A6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71129-282A-1331-AD62-5134D385A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54ED1-728B-D5D6-4294-E2802D8AE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75C08-630F-454B-9756-F7746918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381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162D5B-73D1-8D56-E3E9-D21C84F9A6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13ABBE-8E6A-021D-0AD0-AB0C410D7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9B8B5-7C35-5896-5020-6C5D27D86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C377-EEFB-4C45-8407-C8CDC7CEF1A6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38426-E4E3-EDB5-879E-4360EAA53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9713A-BCEF-C785-6908-C0CDDF9CD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75C08-630F-454B-9756-F7746918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263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85BFD4-EB75-80C8-7662-E0F69C89A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4C73D-6FB5-32CC-AD90-F2DC3FCA8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49CAD-028A-64F6-17C5-1EF1228785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A8C377-EEFB-4C45-8407-C8CDC7CEF1A6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30952-12C2-2BCE-2C32-4C1FFB9C70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9878C-25AD-FD28-B016-B54F5FE01B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875C08-630F-454B-9756-F7746918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866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laude.ai/artifact/VkNjGDDxE9S8b8eZsnMpjv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lar.google.com/citations?user=_PQ86mEAAAAJ&amp;hl=ko" TargetMode="External"/><Relationship Id="rId2" Type="http://schemas.openxmlformats.org/officeDocument/2006/relationships/hyperlink" Target="https://scholar.google.com/citations?user=hpQO_7QAAAAJ&amp;hl=en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baeus/Paper2Agent" TargetMode="External"/><Relationship Id="rId2" Type="http://schemas.openxmlformats.org/officeDocument/2006/relationships/hyperlink" Target="https://github.com/Pseudo-Lab/abstain-dti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4E94F-39FC-A9F9-D3E9-64D59CA5E4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marL="0" lvl="0" indent="0">
              <a:buNone/>
            </a:pPr>
            <a:r>
              <a:t>Abstain-DTI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DDF903-72F2-4677-3580-4F46C495AA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marL="0" lvl="0" indent="0">
              <a:buNone/>
            </a:pPr>
            <a:r>
              <a:t>week 1 · 2026.10.10</a:t>
            </a:r>
            <a:br/>
            <a:br/>
            <a:r>
              <a:t>가짜연구소 13기 배예지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19BBA-533B-01D9-A30B-813C96DE3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A3D7C-4700-63EE-D316-286D3227B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스터디 룰 소개</a:t>
            </a:r>
            <a:endParaRPr lang="en-US" altLang="ko-KR" dirty="0"/>
          </a:p>
          <a:p>
            <a:r>
              <a:rPr lang="ko-KR" altLang="en-US" dirty="0"/>
              <a:t>자기소개 </a:t>
            </a:r>
            <a:r>
              <a:rPr lang="en-US" altLang="ko-KR" dirty="0"/>
              <a:t>(</a:t>
            </a:r>
            <a:r>
              <a:rPr lang="ko-KR" altLang="en-US" dirty="0"/>
              <a:t>업무</a:t>
            </a:r>
            <a:r>
              <a:rPr lang="en-US" altLang="ko-KR" dirty="0"/>
              <a:t>,</a:t>
            </a:r>
            <a:r>
              <a:rPr lang="ko-KR" altLang="en-US" dirty="0"/>
              <a:t> 위치</a:t>
            </a:r>
            <a:r>
              <a:rPr lang="en-US" altLang="ko-KR" dirty="0"/>
              <a:t>,</a:t>
            </a:r>
            <a:r>
              <a:rPr lang="ko-KR" altLang="en-US" dirty="0"/>
              <a:t> 취미 </a:t>
            </a:r>
            <a:r>
              <a:rPr lang="en-US" altLang="ko-KR" dirty="0"/>
              <a:t>1</a:t>
            </a:r>
            <a:r>
              <a:rPr lang="ko-KR" altLang="en-US" dirty="0"/>
              <a:t>개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Abstain-DTI </a:t>
            </a:r>
            <a:r>
              <a:rPr lang="ko-KR" altLang="en-US" dirty="0" err="1"/>
              <a:t>를</a:t>
            </a:r>
            <a:r>
              <a:rPr lang="ko-KR" altLang="en-US" dirty="0"/>
              <a:t> 위한 </a:t>
            </a:r>
            <a:r>
              <a:rPr lang="ko-KR" altLang="en-US" dirty="0" err="1"/>
              <a:t>온보딩</a:t>
            </a:r>
            <a:endParaRPr lang="en-US" altLang="ko-KR" dirty="0"/>
          </a:p>
          <a:p>
            <a:r>
              <a:rPr lang="ko-KR" altLang="en-US" dirty="0"/>
              <a:t>문제 </a:t>
            </a:r>
            <a:r>
              <a:rPr lang="en-US" altLang="ko-KR" dirty="0"/>
              <a:t>/</a:t>
            </a:r>
            <a:r>
              <a:rPr lang="ko-KR" altLang="en-US" dirty="0"/>
              <a:t> 난이도 정의</a:t>
            </a:r>
            <a:endParaRPr lang="en-US" altLang="ko-KR" dirty="0"/>
          </a:p>
          <a:p>
            <a:r>
              <a:rPr lang="ko-KR" altLang="en-US" dirty="0"/>
              <a:t>트랙 선정 및 트랙 리더 선정 </a:t>
            </a:r>
            <a:endParaRPr lang="en-US" altLang="ko-KR" dirty="0"/>
          </a:p>
          <a:p>
            <a:r>
              <a:rPr lang="ko-KR" altLang="en-US" dirty="0"/>
              <a:t>주차 별 회의록 담당자 선정 </a:t>
            </a:r>
            <a:r>
              <a:rPr lang="en-US" altLang="ko-KR" dirty="0"/>
              <a:t>(at week 2)</a:t>
            </a:r>
          </a:p>
          <a:p>
            <a:r>
              <a:rPr lang="en-US" altLang="ko-KR" dirty="0"/>
              <a:t>GPU </a:t>
            </a:r>
            <a:r>
              <a:rPr lang="ko-KR" altLang="en-US" dirty="0"/>
              <a:t>실물 확보</a:t>
            </a:r>
            <a:r>
              <a:rPr lang="en-US" altLang="ko-KR" dirty="0"/>
              <a:t> </a:t>
            </a:r>
            <a:r>
              <a:rPr lang="ko-KR" altLang="en-US" dirty="0"/>
              <a:t>및 </a:t>
            </a:r>
            <a:r>
              <a:rPr lang="en-US" altLang="ko-KR" dirty="0"/>
              <a:t>LLM API credit</a:t>
            </a:r>
          </a:p>
          <a:p>
            <a:r>
              <a:rPr lang="ko-KR" altLang="en-US" dirty="0"/>
              <a:t>트랙별로 모여서 다음주 발표할 논문 고르기 </a:t>
            </a:r>
            <a:endParaRPr lang="en-US" altLang="ko-KR" dirty="0"/>
          </a:p>
          <a:p>
            <a:r>
              <a:rPr lang="ko-KR" altLang="en-US" b="1" dirty="0"/>
              <a:t>오늘의 목표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PR</a:t>
            </a:r>
            <a:r>
              <a:rPr lang="ko-KR" altLang="en-US" dirty="0"/>
              <a:t> 하나씩 올리기</a:t>
            </a:r>
            <a:endParaRPr lang="en-US" altLang="ko-KR" dirty="0"/>
          </a:p>
          <a:p>
            <a:r>
              <a:rPr lang="en-US" altLang="ko-KR" b="1" dirty="0"/>
              <a:t>HW</a:t>
            </a:r>
            <a:r>
              <a:rPr lang="en-US" altLang="ko-KR" dirty="0"/>
              <a:t>:</a:t>
            </a:r>
            <a:r>
              <a:rPr lang="ko-KR" altLang="en-US" dirty="0"/>
              <a:t> 논문 발표자료 정리해서 </a:t>
            </a:r>
            <a:r>
              <a:rPr lang="ko-KR" altLang="en-US" dirty="0" err="1"/>
              <a:t>깃헙에</a:t>
            </a:r>
            <a:r>
              <a:rPr lang="ko-KR" altLang="en-US" dirty="0"/>
              <a:t> 올리기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664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3CE1B-80F1-02C1-0159-1E1558A14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스터디 룰 소개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FB903-7132-9828-D254-CE63C6A8B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회 이상 무단 불참 시 제명</a:t>
            </a:r>
            <a:endParaRPr lang="en-US" altLang="ko-KR" dirty="0"/>
          </a:p>
          <a:p>
            <a:r>
              <a:rPr lang="ko-KR" altLang="en-US" dirty="0"/>
              <a:t>카메라 </a:t>
            </a:r>
            <a:r>
              <a:rPr lang="en-US" altLang="ko-KR" dirty="0"/>
              <a:t>on </a:t>
            </a:r>
            <a:r>
              <a:rPr lang="ko-KR" altLang="en-US" dirty="0"/>
              <a:t>필수 </a:t>
            </a:r>
            <a:r>
              <a:rPr lang="en-US" altLang="ko-KR" dirty="0"/>
              <a:t>(</a:t>
            </a:r>
            <a:r>
              <a:rPr lang="ko-KR" altLang="en-US" dirty="0"/>
              <a:t>얼굴이 보이지 않아도</a:t>
            </a:r>
            <a:r>
              <a:rPr lang="en-US" altLang="ko-KR" dirty="0"/>
              <a:t> </a:t>
            </a:r>
            <a:r>
              <a:rPr lang="ko-KR" altLang="en-US" dirty="0"/>
              <a:t>됩니다</a:t>
            </a:r>
            <a:r>
              <a:rPr lang="en-US" altLang="ko-KR" dirty="0"/>
              <a:t>.)</a:t>
            </a:r>
            <a:r>
              <a:rPr lang="ko-KR" altLang="en-US" dirty="0"/>
              <a:t>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136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66A82-5E82-FBC2-17E3-E88F3314C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자기 소개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3F890-37F7-0B6D-6D54-D1BC05115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Yeji Bae</a:t>
            </a:r>
          </a:p>
          <a:p>
            <a:pPr marL="0" indent="0">
              <a:buNone/>
            </a:pPr>
            <a:r>
              <a:rPr lang="en-US" dirty="0"/>
              <a:t>Data Scientist / Computational Biologist at Seattle Children’s Hospital &amp; Research Institute 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Multi-omics Analysis</a:t>
            </a:r>
          </a:p>
          <a:p>
            <a:pPr lvl="1"/>
            <a:r>
              <a:rPr lang="en-US" dirty="0"/>
              <a:t>DL model development (fine tuning) </a:t>
            </a:r>
          </a:p>
          <a:p>
            <a:pPr lvl="1"/>
            <a:r>
              <a:rPr lang="en-US" dirty="0"/>
              <a:t>Agent Engineering</a:t>
            </a:r>
          </a:p>
        </p:txBody>
      </p:sp>
    </p:spTree>
    <p:extLst>
      <p:ext uri="{BB962C8B-B14F-4D97-AF65-F5344CB8AC3E}">
        <p14:creationId xmlns:p14="http://schemas.microsoft.com/office/powerpoint/2010/main" val="187116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9F797-FF60-325F-5DF3-1A6344DE1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Abstain-DTI </a:t>
            </a:r>
            <a:r>
              <a:rPr lang="ko-KR" altLang="en-US" dirty="0" err="1"/>
              <a:t>를</a:t>
            </a:r>
            <a:r>
              <a:rPr lang="ko-KR" altLang="en-US" dirty="0"/>
              <a:t> 위한 </a:t>
            </a:r>
            <a:r>
              <a:rPr lang="ko-KR" altLang="en-US" dirty="0" err="1"/>
              <a:t>온보딩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F5993-7D5F-43F6-F67A-2FD8FDE9D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 정의</a:t>
            </a:r>
            <a:endParaRPr lang="en-US" altLang="ko-KR" dirty="0"/>
          </a:p>
          <a:p>
            <a:r>
              <a:rPr lang="ko-KR" altLang="en-US" dirty="0"/>
              <a:t>난이도 정의 </a:t>
            </a:r>
            <a:endParaRPr lang="en-US" altLang="ko-KR" dirty="0"/>
          </a:p>
          <a:p>
            <a:r>
              <a:rPr lang="en-US" dirty="0"/>
              <a:t>INPUT &amp; OUTPUT 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331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8C2E162-DFF5-7312-5184-27F643947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967" y="792003"/>
            <a:ext cx="11060119" cy="50709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05FD6B-7E8A-D1F4-777B-E3E3E6AA2D69}"/>
              </a:ext>
            </a:extLst>
          </p:cNvPr>
          <p:cNvSpPr txBox="1"/>
          <p:nvPr/>
        </p:nvSpPr>
        <p:spPr>
          <a:xfrm>
            <a:off x="3295425" y="613593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https://claude.ai/artifact/VkNjGDDxE9S8b8eZsnMpjv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47093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A2238-82A5-A975-472A-4789B67CF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Feedbacks will be given by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0E320-5F67-4442-564E-EAEFF6C52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UW Andre Berndt Lab postdoc </a:t>
            </a:r>
            <a:r>
              <a:rPr lang="ko-KR" altLang="en-US" sz="2400" dirty="0" err="1"/>
              <a:t>이다호</a:t>
            </a:r>
            <a:r>
              <a:rPr lang="ko-KR" altLang="en-US" sz="2400" dirty="0"/>
              <a:t> 박사님</a:t>
            </a:r>
            <a:r>
              <a:rPr lang="en-US" altLang="ko-KR" sz="2400" dirty="0"/>
              <a:t> </a:t>
            </a:r>
            <a:r>
              <a:rPr lang="en-US" altLang="ko-KR" sz="2400" dirty="0">
                <a:hlinkClick r:id="rId2"/>
              </a:rPr>
              <a:t>https://scholar.google.com/citations?user=hpQO_7QAAAAJ&amp;hl=en</a:t>
            </a:r>
            <a:r>
              <a:rPr lang="en-US" altLang="ko-KR" sz="2400" dirty="0"/>
              <a:t> </a:t>
            </a:r>
          </a:p>
          <a:p>
            <a:r>
              <a:rPr lang="en-US" altLang="ko-KR" sz="2400" dirty="0"/>
              <a:t>UW David Baker Lab postdoc </a:t>
            </a:r>
            <a:r>
              <a:rPr lang="ko-KR" altLang="en-US" sz="2400" dirty="0" err="1"/>
              <a:t>신호정박사님</a:t>
            </a:r>
            <a:r>
              <a:rPr lang="en-US" altLang="ko-KR" sz="2400" dirty="0"/>
              <a:t> </a:t>
            </a:r>
            <a:r>
              <a:rPr lang="en-US" altLang="ko-KR" sz="2400" dirty="0">
                <a:hlinkClick r:id="rId3"/>
              </a:rPr>
              <a:t>https://scholar.google.com/citations?user=_PQ86mEAAAAJ&amp;hl=ko</a:t>
            </a:r>
            <a:r>
              <a:rPr lang="en-US" altLang="ko-KR" sz="2400" dirty="0"/>
              <a:t> </a:t>
            </a:r>
          </a:p>
          <a:p>
            <a:r>
              <a:rPr lang="en-US" altLang="ko-KR" sz="2400" dirty="0"/>
              <a:t>Duke </a:t>
            </a:r>
            <a:r>
              <a:rPr lang="en-US" altLang="ko-KR" sz="2400" dirty="0" err="1"/>
              <a:t>phD</a:t>
            </a:r>
            <a:r>
              <a:rPr lang="en-US" altLang="ko-KR" sz="2400" dirty="0"/>
              <a:t> candidate </a:t>
            </a:r>
            <a:r>
              <a:rPr lang="ko-KR" altLang="en-US" sz="2400" dirty="0" err="1"/>
              <a:t>김종현님</a:t>
            </a:r>
            <a:endParaRPr lang="en-US" altLang="ko-KR" sz="2400" dirty="0"/>
          </a:p>
          <a:p>
            <a:pPr lvl="1"/>
            <a:r>
              <a:rPr lang="en-US" sz="2000" dirty="0"/>
              <a:t>Kim, J. and Romero, P.A. (2026) ‘Benchmarking and behavioral characterization of LLM agents for protein design’, bioRxiv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49740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C0D0C-9A5E-1DC8-B48D-462EC1137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marL="0" lvl="0" indent="0">
              <a:buNone/>
            </a:pPr>
            <a:r>
              <a:t>문제 정의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592C5-AEA2-D627-F76B-35C7AD5ED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8538990" cy="989012"/>
          </a:xfrm>
        </p:spPr>
        <p:txBody>
          <a:bodyPr/>
          <a:lstStyle/>
          <a:p>
            <a:pPr marL="0" lvl="0" indent="0">
              <a:buNone/>
            </a:pPr>
            <a:r>
              <a:rPr dirty="0" err="1"/>
              <a:t>무엇이</a:t>
            </a:r>
            <a:r>
              <a:rPr dirty="0"/>
              <a:t> </a:t>
            </a:r>
            <a:r>
              <a:rPr dirty="0" err="1"/>
              <a:t>문제인가</a:t>
            </a: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344C6D-89EA-24AC-1FF8-F95BD17633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23206"/>
            <a:ext cx="10787920" cy="3811588"/>
          </a:xfrm>
        </p:spPr>
        <p:txBody>
          <a:bodyPr/>
          <a:lstStyle/>
          <a:p>
            <a:r>
              <a:rPr dirty="0"/>
              <a:t>“</a:t>
            </a:r>
            <a:r>
              <a:rPr lang="en-US" dirty="0"/>
              <a:t>AI </a:t>
            </a:r>
            <a:r>
              <a:rPr lang="ko-KR" altLang="en-US" dirty="0"/>
              <a:t>신약 발굴 모델은 자기가 틀릴 때를 아는가</a:t>
            </a:r>
            <a:r>
              <a:rPr lang="en-US" altLang="ko-KR" dirty="0"/>
              <a:t>?</a:t>
            </a:r>
            <a:r>
              <a:rPr dirty="0"/>
              <a:t>”</a:t>
            </a:r>
            <a:r>
              <a:rPr lang="en-US" dirty="0"/>
              <a:t> -&gt; </a:t>
            </a:r>
            <a:r>
              <a:rPr lang="ko-KR" altLang="en-US" dirty="0"/>
              <a:t>답할 근거가 없는 입력에 쉬운 입력과 같은 신뢰도로 답한다</a:t>
            </a:r>
          </a:p>
          <a:p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780BB4-34F0-6563-4E23-E531C2FE796E}"/>
              </a:ext>
            </a:extLst>
          </p:cNvPr>
          <p:cNvSpPr txBox="1"/>
          <p:nvPr/>
        </p:nvSpPr>
        <p:spPr>
          <a:xfrm>
            <a:off x="-444843" y="2105561"/>
            <a:ext cx="115659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00" lvl="0" indent="0">
              <a:buNone/>
            </a:pPr>
            <a:r>
              <a:rPr lang="en-US" sz="2000" dirty="0"/>
              <a:t>DTI </a:t>
            </a:r>
            <a:r>
              <a:rPr lang="ko-KR" altLang="en-US" sz="2000" dirty="0" err="1"/>
              <a:t>예측기</a:t>
            </a:r>
            <a:r>
              <a:rPr lang="en-US" altLang="ko-KR" sz="2000" dirty="0"/>
              <a:t>(</a:t>
            </a:r>
            <a:r>
              <a:rPr lang="ko-KR" altLang="en-US" sz="2000" dirty="0"/>
              <a:t>지도학습 모델이든 </a:t>
            </a:r>
            <a:r>
              <a:rPr lang="en-US" sz="2000" dirty="0"/>
              <a:t>LLM </a:t>
            </a:r>
            <a:r>
              <a:rPr lang="ko-KR" altLang="en-US" sz="2000" dirty="0" err="1"/>
              <a:t>에이전트든</a:t>
            </a:r>
            <a:r>
              <a:rPr lang="en-US" altLang="ko-KR" sz="2000" dirty="0"/>
              <a:t>)</a:t>
            </a:r>
            <a:r>
              <a:rPr lang="ko-KR" altLang="en-US" sz="2000" dirty="0"/>
              <a:t>는 입력이 자기가 아는 범위를 벗어나도 신뢰도를 낮추지 않을 수 있다</a:t>
            </a:r>
            <a:r>
              <a:rPr lang="en-US" altLang="ko-KR" sz="2000" dirty="0"/>
              <a:t>. </a:t>
            </a:r>
            <a:r>
              <a:rPr lang="ko-KR" altLang="en-US" sz="2000" dirty="0"/>
              <a:t>지금까지의 평가는 정확도를 난이도별로 나눠 보았을 뿐</a:t>
            </a:r>
            <a:r>
              <a:rPr lang="en-US" altLang="ko-KR" sz="2000" dirty="0"/>
              <a:t>, </a:t>
            </a:r>
            <a:r>
              <a:rPr lang="ko-KR" altLang="en-US" sz="2000" dirty="0"/>
              <a:t>신뢰도와 기권이 그 난이도를 따라가는지는 재지 않아</a:t>
            </a:r>
            <a:r>
              <a:rPr lang="en-US" altLang="ko-KR" sz="2000" dirty="0"/>
              <a:t>, </a:t>
            </a:r>
            <a:r>
              <a:rPr lang="ko-KR" altLang="en-US" sz="2000" dirty="0"/>
              <a:t>이 결함이 있는지 알 수 없었다</a:t>
            </a:r>
            <a:r>
              <a:rPr lang="en-US" altLang="ko-KR" sz="2000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C46E5B-7CC9-45DA-2D90-F85A42D285ED}"/>
              </a:ext>
            </a:extLst>
          </p:cNvPr>
          <p:cNvSpPr txBox="1"/>
          <p:nvPr/>
        </p:nvSpPr>
        <p:spPr>
          <a:xfrm>
            <a:off x="839788" y="3441828"/>
            <a:ext cx="105124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ko-KR" altLang="en-US" sz="2400" b="1" dirty="0"/>
              <a:t>벤치마크의 질문은 하나입니다</a:t>
            </a:r>
            <a:r>
              <a:rPr lang="en-US" altLang="ko-KR" sz="2400" b="1" dirty="0"/>
              <a:t>.</a:t>
            </a:r>
            <a:r>
              <a:rPr lang="ko-KR" altLang="en-US" sz="2400" dirty="0"/>
              <a:t> 신뢰도</a:t>
            </a:r>
            <a:r>
              <a:rPr lang="en-US" altLang="ko-KR" sz="2400" dirty="0"/>
              <a:t>, </a:t>
            </a:r>
            <a:r>
              <a:rPr lang="ko-KR" altLang="en-US" sz="2400" dirty="0"/>
              <a:t>또는 기권 결정이 사전에 정한 난이도 </a:t>
            </a:r>
            <a:r>
              <a:rPr lang="en-US" sz="2400" dirty="0"/>
              <a:t>d(x)</a:t>
            </a:r>
            <a:r>
              <a:rPr lang="ko-KR" altLang="en-US" sz="2400" dirty="0" err="1"/>
              <a:t>를</a:t>
            </a:r>
            <a:r>
              <a:rPr lang="ko-KR" altLang="en-US" sz="2400" dirty="0"/>
              <a:t> 따라가는가</a:t>
            </a:r>
            <a:r>
              <a:rPr lang="en-US" altLang="ko-KR" sz="2400" dirty="0"/>
              <a:t>? “</a:t>
            </a:r>
            <a:r>
              <a:rPr lang="ko-KR" altLang="en-US" sz="2400" dirty="0"/>
              <a:t>결함이 </a:t>
            </a:r>
            <a:r>
              <a:rPr lang="ko-KR" altLang="en-US" sz="2400" dirty="0" err="1"/>
              <a:t>있다”가</a:t>
            </a:r>
            <a:r>
              <a:rPr lang="ko-KR" altLang="en-US" sz="2400" dirty="0"/>
              <a:t> 아니라 “아무도 재지 </a:t>
            </a:r>
            <a:r>
              <a:rPr lang="ko-KR" altLang="en-US" sz="2400" dirty="0" err="1"/>
              <a:t>않았다”고</a:t>
            </a:r>
            <a:r>
              <a:rPr lang="ko-KR" altLang="en-US" sz="2400" dirty="0"/>
              <a:t> 씁니다</a:t>
            </a:r>
            <a:r>
              <a:rPr lang="en-US" altLang="ko-KR" sz="2400" dirty="0"/>
              <a:t>. </a:t>
            </a:r>
            <a:r>
              <a:rPr lang="ko-KR" altLang="en-US" sz="2400" dirty="0"/>
              <a:t>결함의 직접 근거는 아직 없습니다</a:t>
            </a:r>
            <a:r>
              <a:rPr lang="en-US" altLang="ko-KR" sz="2400" dirty="0"/>
              <a:t>.</a:t>
            </a:r>
            <a:r>
              <a:rPr lang="ko-KR" altLang="en-US" sz="2400" dirty="0"/>
              <a:t> 정답을 보기 전에 정할 수 있는 난이도 좌표가 필요합니다</a:t>
            </a:r>
            <a:r>
              <a:rPr lang="en-US" altLang="ko-KR" sz="2400" dirty="0"/>
              <a:t>. </a:t>
            </a:r>
            <a:r>
              <a:rPr lang="ko-KR" altLang="en-US" sz="2400" dirty="0"/>
              <a:t>다음 절에서 정의합니다</a:t>
            </a:r>
            <a:r>
              <a:rPr lang="en-US" altLang="ko-KR" sz="2400"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592C5-AEA2-D627-F76B-35C7AD5ED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658969" cy="1044911"/>
          </a:xfrm>
        </p:spPr>
        <p:txBody>
          <a:bodyPr/>
          <a:lstStyle/>
          <a:p>
            <a:pPr marL="0" lvl="0" indent="0">
              <a:buNone/>
            </a:pPr>
            <a:r>
              <a:rPr lang="ko-KR" altLang="en-US" dirty="0"/>
              <a:t>근거</a:t>
            </a: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344C6D-89EA-24AC-1FF8-F95BD17633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06378"/>
            <a:ext cx="10512424" cy="4262610"/>
          </a:xfrm>
        </p:spPr>
        <p:txBody>
          <a:bodyPr/>
          <a:lstStyle/>
          <a:p>
            <a:pPr marL="0" lvl="0" indent="0">
              <a:buNone/>
            </a:pPr>
            <a:r>
              <a:rPr dirty="0" err="1"/>
              <a:t>선행</a:t>
            </a:r>
            <a:r>
              <a:rPr dirty="0"/>
              <a:t> </a:t>
            </a:r>
            <a:r>
              <a:rPr dirty="0" err="1"/>
              <a:t>문헌</a:t>
            </a:r>
            <a:r>
              <a:rPr dirty="0"/>
              <a:t>(Medea, </a:t>
            </a:r>
            <a:r>
              <a:rPr dirty="0" err="1"/>
              <a:t>Biomni</a:t>
            </a:r>
            <a:r>
              <a:rPr dirty="0"/>
              <a:t>, </a:t>
            </a:r>
            <a:r>
              <a:rPr dirty="0" err="1"/>
              <a:t>ToolUniverse</a:t>
            </a:r>
            <a:r>
              <a:rPr dirty="0"/>
              <a:t>, </a:t>
            </a:r>
            <a:r>
              <a:rPr dirty="0" err="1"/>
              <a:t>DrugAgent</a:t>
            </a:r>
            <a:r>
              <a:rPr dirty="0"/>
              <a:t>, LAB-Bench, </a:t>
            </a:r>
            <a:r>
              <a:rPr dirty="0" err="1"/>
              <a:t>BixBench</a:t>
            </a:r>
            <a:r>
              <a:rPr dirty="0"/>
              <a:t>) </a:t>
            </a:r>
            <a:r>
              <a:rPr dirty="0" err="1"/>
              <a:t>중</a:t>
            </a:r>
            <a:r>
              <a:rPr dirty="0"/>
              <a:t> </a:t>
            </a:r>
            <a:r>
              <a:rPr dirty="0" err="1"/>
              <a:t>AURC나</a:t>
            </a:r>
            <a:r>
              <a:rPr dirty="0"/>
              <a:t> risk-</a:t>
            </a:r>
            <a:r>
              <a:rPr dirty="0" err="1"/>
              <a:t>coverage로</a:t>
            </a:r>
            <a:r>
              <a:rPr dirty="0"/>
              <a:t> </a:t>
            </a:r>
            <a:r>
              <a:rPr dirty="0" err="1"/>
              <a:t>신뢰도의</a:t>
            </a:r>
            <a:r>
              <a:rPr dirty="0"/>
              <a:t> </a:t>
            </a:r>
            <a:r>
              <a:rPr dirty="0" err="1"/>
              <a:t>순위를</a:t>
            </a:r>
            <a:r>
              <a:rPr dirty="0"/>
              <a:t> </a:t>
            </a:r>
            <a:r>
              <a:rPr dirty="0" err="1"/>
              <a:t>잰</a:t>
            </a:r>
            <a:r>
              <a:rPr dirty="0"/>
              <a:t> </a:t>
            </a:r>
            <a:r>
              <a:rPr dirty="0" err="1"/>
              <a:t>곳은</a:t>
            </a:r>
            <a:r>
              <a:rPr dirty="0"/>
              <a:t> </a:t>
            </a:r>
            <a:r>
              <a:rPr dirty="0" err="1"/>
              <a:t>없습니다</a:t>
            </a:r>
            <a:r>
              <a:rPr dirty="0"/>
              <a:t>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0644996"/>
              </p:ext>
            </p:extLst>
          </p:nvPr>
        </p:nvGraphicFramePr>
        <p:xfrm>
          <a:off x="975154" y="2451579"/>
          <a:ext cx="10241692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1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0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 err="1"/>
                        <a:t>근거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 err="1"/>
                        <a:t>내용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/>
                        <a:t>LAB-Bench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 dirty="0"/>
                        <a:t>LAB-Bench</a:t>
                      </a:r>
                      <a:r>
                        <a:rPr lang="ko-KR" altLang="en-US" sz="1400" dirty="0"/>
                        <a:t>는 생물학 연구 과제로 </a:t>
                      </a:r>
                      <a:r>
                        <a:rPr lang="en-US" sz="1400" dirty="0"/>
                        <a:t>LLM</a:t>
                      </a:r>
                      <a:r>
                        <a:rPr lang="ko-KR" altLang="en-US" sz="1400" dirty="0"/>
                        <a:t>을 시험하는 벤치마크입니다</a:t>
                      </a:r>
                      <a:r>
                        <a:rPr lang="en-US" altLang="ko-KR" sz="1400" dirty="0"/>
                        <a:t>. </a:t>
                      </a:r>
                      <a:r>
                        <a:rPr lang="ko-KR" altLang="en-US" sz="1400" dirty="0"/>
                        <a:t>모든 문항에 “정보가 부족해 답할 수 없다” 보기를 주고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답한 문항 비율</a:t>
                      </a:r>
                      <a:r>
                        <a:rPr lang="en-US" altLang="ko-KR" sz="1400" dirty="0"/>
                        <a:t>(</a:t>
                      </a:r>
                      <a:r>
                        <a:rPr lang="en-US" sz="1400" dirty="0"/>
                        <a:t>coverage)</a:t>
                      </a:r>
                      <a:r>
                        <a:rPr lang="ko-KR" altLang="en-US" sz="1400" dirty="0"/>
                        <a:t>과 답한 문항 중 정답 비율</a:t>
                      </a:r>
                      <a:r>
                        <a:rPr lang="en-US" altLang="ko-KR" sz="1400" dirty="0"/>
                        <a:t>(</a:t>
                      </a:r>
                      <a:r>
                        <a:rPr lang="en-US" sz="1400" dirty="0"/>
                        <a:t>precision)</a:t>
                      </a:r>
                      <a:r>
                        <a:rPr lang="ko-KR" altLang="en-US" sz="1400" dirty="0"/>
                        <a:t>을 따로 봅니다</a:t>
                      </a:r>
                      <a:r>
                        <a:rPr lang="en-US" altLang="ko-KR" sz="1400" dirty="0"/>
                        <a:t>.</a:t>
                      </a:r>
                    </a:p>
                    <a:p>
                      <a:pPr marL="228600" lvl="0" indent="-22860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Cloning Scenarios </a:t>
                      </a:r>
                      <a:r>
                        <a:rPr lang="ko-KR" altLang="en-US" sz="1400" dirty="0"/>
                        <a:t>과제에서 </a:t>
                      </a:r>
                      <a:r>
                        <a:rPr lang="en-US" sz="1400" dirty="0"/>
                        <a:t>Gemini 1.5 Pro</a:t>
                      </a:r>
                      <a:r>
                        <a:rPr lang="ko-KR" altLang="en-US" sz="1400" dirty="0"/>
                        <a:t>와 </a:t>
                      </a:r>
                      <a:r>
                        <a:rPr lang="en-US" sz="1400" dirty="0"/>
                        <a:t>GPT-4-turbo</a:t>
                      </a:r>
                      <a:r>
                        <a:rPr lang="ko-KR" altLang="en-US" sz="1400" dirty="0"/>
                        <a:t>는 다른 모델보다 기권을 많이 했습니다</a:t>
                      </a:r>
                      <a:r>
                        <a:rPr lang="en-US" altLang="ko-KR" sz="1400" dirty="0"/>
                        <a:t>.</a:t>
                      </a:r>
                    </a:p>
                    <a:p>
                      <a:pPr marL="228600" lvl="0" indent="-22860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/>
                        <a:t>그런데 답한 문항만 놓고 봐도 </a:t>
                      </a:r>
                      <a:r>
                        <a:rPr lang="ko-KR" altLang="en-US" sz="1400" dirty="0" err="1"/>
                        <a:t>정답률이</a:t>
                      </a:r>
                      <a:r>
                        <a:rPr lang="ko-KR" altLang="en-US" sz="1400" dirty="0"/>
                        <a:t> 가장 낮았습니다</a:t>
                      </a:r>
                      <a:r>
                        <a:rPr lang="en-US" altLang="ko-KR" sz="1400" dirty="0"/>
                        <a:t>. </a:t>
                      </a:r>
                      <a:r>
                        <a:rPr lang="ko-KR" altLang="en-US" sz="1400" dirty="0"/>
                        <a:t>기권을 많이 해도 </a:t>
                      </a:r>
                      <a:r>
                        <a:rPr lang="ko-KR" altLang="en-US" sz="1400" dirty="0" err="1"/>
                        <a:t>정답률은</a:t>
                      </a:r>
                      <a:r>
                        <a:rPr lang="ko-KR" altLang="en-US" sz="1400" dirty="0"/>
                        <a:t> 오르지 않았습니다</a:t>
                      </a:r>
                      <a:r>
                        <a:rPr lang="en-US" altLang="ko-KR" sz="14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/>
                        <a:t>DrugAgent (kinase)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400" dirty="0" err="1"/>
                        <a:t>DrugAgent</a:t>
                      </a:r>
                      <a:r>
                        <a:rPr lang="ko-KR" altLang="en-US" sz="1400" dirty="0"/>
                        <a:t>는 </a:t>
                      </a:r>
                      <a:r>
                        <a:rPr lang="en-US" sz="1400" dirty="0"/>
                        <a:t>LLM </a:t>
                      </a:r>
                      <a:r>
                        <a:rPr lang="ko-KR" altLang="en-US" sz="1400" dirty="0"/>
                        <a:t>여러 개가 문헌과 </a:t>
                      </a:r>
                      <a:r>
                        <a:rPr lang="en-US" sz="1400" dirty="0"/>
                        <a:t>DB</a:t>
                      </a:r>
                      <a:r>
                        <a:rPr lang="ko-KR" altLang="en-US" sz="1400" dirty="0" err="1"/>
                        <a:t>를</a:t>
                      </a:r>
                      <a:r>
                        <a:rPr lang="ko-KR" altLang="en-US" sz="1400" dirty="0"/>
                        <a:t> 찾아보고 약이 타겟에 붙는지 판단하는 에이전트입니다</a:t>
                      </a:r>
                      <a:r>
                        <a:rPr lang="en-US" altLang="ko-KR" sz="1400" dirty="0"/>
                        <a:t>. </a:t>
                      </a:r>
                      <a:r>
                        <a:rPr lang="ko-KR" altLang="en-US" sz="1400" dirty="0"/>
                        <a:t>저자들은 </a:t>
                      </a:r>
                      <a:r>
                        <a:rPr lang="en-US" sz="1400" dirty="0"/>
                        <a:t>kinase </a:t>
                      </a:r>
                      <a:r>
                        <a:rPr lang="ko-KR" altLang="en-US" sz="1400" dirty="0"/>
                        <a:t>평가 문제를 </a:t>
                      </a:r>
                      <a:r>
                        <a:rPr lang="en-US" altLang="ko-KR" sz="1400" dirty="0"/>
                        <a:t>"</a:t>
                      </a:r>
                      <a:r>
                        <a:rPr lang="ko-KR" altLang="en-US" sz="1400" dirty="0"/>
                        <a:t>그 약</a:t>
                      </a:r>
                      <a:r>
                        <a:rPr lang="en-US" altLang="ko-KR" sz="1400" dirty="0"/>
                        <a:t>-</a:t>
                      </a:r>
                      <a:r>
                        <a:rPr lang="ko-KR" altLang="en-US" sz="1400" dirty="0"/>
                        <a:t>타겟 쌍을 직접 다룬 논문이 몇 편 있는가</a:t>
                      </a:r>
                      <a:r>
                        <a:rPr lang="en-US" altLang="ko-KR" sz="1400" dirty="0"/>
                        <a:t>"</a:t>
                      </a:r>
                      <a:r>
                        <a:rPr lang="ko-KR" altLang="en-US" sz="1400" dirty="0"/>
                        <a:t>로 나눠서 정확도를 봤습니다</a:t>
                      </a:r>
                      <a:r>
                        <a:rPr lang="en-US" altLang="ko-KR" sz="1400" dirty="0"/>
                        <a:t>.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논문이 </a:t>
                      </a:r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편 이상 있으면 </a:t>
                      </a:r>
                      <a:r>
                        <a:rPr lang="en-US" sz="1400" dirty="0" err="1"/>
                        <a:t>DrugAgent</a:t>
                      </a:r>
                      <a:r>
                        <a:rPr lang="ko-KR" altLang="en-US" sz="1400" dirty="0"/>
                        <a:t>가 일반 </a:t>
                      </a:r>
                      <a:r>
                        <a:rPr lang="en-US" sz="1400" dirty="0"/>
                        <a:t>ML </a:t>
                      </a:r>
                      <a:r>
                        <a:rPr lang="ko-KR" altLang="en-US" sz="1400" dirty="0"/>
                        <a:t>모델</a:t>
                      </a:r>
                      <a:r>
                        <a:rPr lang="en-US" altLang="ko-KR" sz="1400" dirty="0"/>
                        <a:t>(</a:t>
                      </a:r>
                      <a:r>
                        <a:rPr lang="en-US" sz="1400" dirty="0"/>
                        <a:t>ML+KG)</a:t>
                      </a:r>
                      <a:r>
                        <a:rPr lang="ko-KR" altLang="en-US" sz="1400" dirty="0"/>
                        <a:t>보다 잘 맞혔습니다</a:t>
                      </a:r>
                      <a:r>
                        <a:rPr lang="en-US" altLang="ko-KR" sz="1400" dirty="0"/>
                        <a:t>.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논문이 </a:t>
                      </a:r>
                      <a:r>
                        <a:rPr lang="en-US" altLang="ko-KR" sz="1400" dirty="0"/>
                        <a:t>0</a:t>
                      </a:r>
                      <a:r>
                        <a:rPr lang="ko-KR" altLang="en-US" sz="1400" dirty="0"/>
                        <a:t>편이면 일반 </a:t>
                      </a:r>
                      <a:r>
                        <a:rPr lang="en-US" sz="1400" dirty="0"/>
                        <a:t>ML </a:t>
                      </a:r>
                      <a:r>
                        <a:rPr lang="ko-KR" altLang="en-US" sz="1400" dirty="0"/>
                        <a:t>모델과 비슷하거나 더 못했습니다</a:t>
                      </a:r>
                      <a:r>
                        <a:rPr lang="en-US" altLang="ko-KR" sz="1400" dirty="0"/>
                        <a:t>.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/>
                        <a:t>기권 채점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sz="1400" dirty="0" err="1"/>
                        <a:t>ToolUniverse는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기권을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오답으로</a:t>
                      </a:r>
                      <a:r>
                        <a:rPr sz="1400" dirty="0"/>
                        <a:t>, </a:t>
                      </a:r>
                      <a:r>
                        <a:rPr sz="1400" dirty="0" err="1"/>
                        <a:t>Medea와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BixBench는</a:t>
                      </a:r>
                      <a:r>
                        <a:rPr sz="1400" dirty="0"/>
                        <a:t> </a:t>
                      </a:r>
                      <a:r>
                        <a:rPr lang="ko-KR" altLang="en-US" sz="1400" dirty="0"/>
                        <a:t>기권한 문항을 빼고 나머지로 </a:t>
                      </a:r>
                      <a:r>
                        <a:rPr lang="ko-KR" altLang="en-US" sz="1400" dirty="0" err="1"/>
                        <a:t>정답률을</a:t>
                      </a:r>
                      <a:r>
                        <a:rPr lang="ko-KR" altLang="en-US" sz="1400" dirty="0"/>
                        <a:t> 계산합니다</a:t>
                      </a:r>
                      <a:r>
                        <a:rPr lang="en-US" altLang="ko-KR" sz="1400" dirty="0"/>
                        <a:t>. </a:t>
                      </a:r>
                      <a:r>
                        <a:rPr sz="1400" dirty="0"/>
                        <a:t>LAB-</a:t>
                      </a:r>
                      <a:r>
                        <a:rPr sz="1400" dirty="0" err="1"/>
                        <a:t>Bench는</a:t>
                      </a:r>
                      <a:r>
                        <a:rPr lang="ko-KR" altLang="en-US" sz="1400" dirty="0"/>
                        <a:t> 두 방식 모두 </a:t>
                      </a:r>
                      <a:r>
                        <a:rPr sz="1400" dirty="0" err="1"/>
                        <a:t>보고합니다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/>
                        <a:t>BixBench (MCQ)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BixBench</a:t>
                      </a:r>
                      <a:r>
                        <a:rPr lang="ko-KR" altLang="en-US" sz="1400" dirty="0"/>
                        <a:t>는 컴퓨터 생물학 분석 과제로 </a:t>
                      </a:r>
                      <a:r>
                        <a:rPr lang="en-US" sz="1400" dirty="0"/>
                        <a:t>LLM </a:t>
                      </a:r>
                      <a:r>
                        <a:rPr lang="ko-KR" altLang="en-US" sz="1400" dirty="0"/>
                        <a:t>에이전트를 시험하는 벤치마크입니다</a:t>
                      </a:r>
                      <a:r>
                        <a:rPr lang="en-US" altLang="ko-KR" sz="1400" dirty="0"/>
                        <a:t>. </a:t>
                      </a:r>
                      <a:r>
                        <a:rPr lang="ko-KR" altLang="en-US" sz="1400" dirty="0"/>
                        <a:t>객관식 문항에 “정보가 부족하다” 보기를 넣은 조건과 뺀 조건을 비교했습니다</a:t>
                      </a:r>
                      <a:r>
                        <a:rPr lang="en-US" altLang="ko-KR" sz="1400" dirty="0"/>
                        <a:t>.</a:t>
                      </a:r>
                    </a:p>
                    <a:p>
                      <a:pPr marL="0" lvl="0" indent="0">
                        <a:buNone/>
                      </a:pPr>
                      <a:r>
                        <a:rPr sz="1400" dirty="0" err="1"/>
                        <a:t>기권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보기를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주면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성능이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random에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가까워지고</a:t>
                      </a:r>
                      <a:r>
                        <a:rPr sz="1400" dirty="0"/>
                        <a:t>, </a:t>
                      </a:r>
                      <a:r>
                        <a:rPr sz="1400" dirty="0" err="1"/>
                        <a:t>빼면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random보다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높아집니다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C0D0C-9A5E-1DC8-B48D-462EC1137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marL="0" lvl="0" indent="0">
              <a:buNone/>
            </a:pPr>
            <a:r>
              <a:t>난이도 정의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506041-357A-9496-FE18-03ADE6749F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3293" y="711221"/>
            <a:ext cx="11058954" cy="543555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C0D0C-9A5E-1DC8-B48D-462EC1137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marL="0" lvl="0" indent="0">
              <a:buNone/>
            </a:pPr>
            <a:r>
              <a:t>INPUT &amp; OUTPUT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818D-09AE-4CD2-3C65-237AD773C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모든 조건 공통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2302601"/>
              </p:ext>
            </p:extLst>
          </p:nvPr>
        </p:nvGraphicFramePr>
        <p:xfrm>
          <a:off x="838200" y="181610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588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정의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단백질 서열 + 화합물 SMILES만. 타겟 식별자(UniProt ID 등)는 주지 않습니다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주 결정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결합 여부 </a:t>
                      </a:r>
                      <a:r>
                        <a:rPr>
                          <a:latin typeface="Courier"/>
                        </a:rPr>
                        <a:t>binds</a:t>
                      </a:r>
                      <a:r>
                        <a:t>. pAffinity ≥ 6.0 (Kd / Ki / IC50 ≤ 1 µM)이면 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출력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binds</a:t>
                      </a:r>
                      <a:r>
                        <a:t>와 신뢰도, 또는 기권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주 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AURC, coverage 80%에서의 selective 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보조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회귀(pAffinity). Ki와 Kd 정확값 부분집합에서만 보고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데이터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BindingDB </a:t>
                      </a:r>
                      <a:r>
                        <a:rPr>
                          <a:latin typeface="Courier"/>
                        </a:rPr>
                        <a:t>202610</a:t>
                      </a:r>
                      <a:r>
                        <a:t> 스냅샷의 CC BY 4.0 부분 (1,436,782행)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음성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 err="1"/>
                        <a:t>검열값</a:t>
                      </a:r>
                      <a:r>
                        <a:rPr dirty="0"/>
                        <a:t> </a:t>
                      </a:r>
                      <a:r>
                        <a:rPr dirty="0">
                          <a:latin typeface="Courier"/>
                        </a:rPr>
                        <a:t>&gt;10 µM</a:t>
                      </a:r>
                      <a:r>
                        <a:rPr dirty="0"/>
                        <a:t> + </a:t>
                      </a:r>
                      <a:r>
                        <a:rPr dirty="0" err="1"/>
                        <a:t>측정된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약한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결합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pAffinity</a:t>
                      </a:r>
                      <a:r>
                        <a:rPr dirty="0"/>
                        <a:t> &lt; 6). decoy </a:t>
                      </a:r>
                      <a:r>
                        <a:rPr dirty="0" err="1"/>
                        <a:t>합성은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쓰지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않습니다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818D-09AE-4CD2-3C65-237AD773C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큐레이션 트랙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2166293"/>
              </p:ext>
            </p:extLst>
          </p:nvPr>
        </p:nvGraphicFramePr>
        <p:xfrm>
          <a:off x="838200" y="181610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7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5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출력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쿼리 선정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BindingDB </a:t>
                      </a:r>
                      <a:r>
                        <a:rPr>
                          <a:latin typeface="Courier"/>
                        </a:rPr>
                        <a:t>202610</a:t>
                      </a:r>
                      <a:r>
                        <a:t> CC BY 부분 (Articles + Patents)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평가 쿼리 60-100개 (서열, SMILES, 정답 </a:t>
                      </a:r>
                      <a:r>
                        <a:rPr>
                          <a:latin typeface="Courier"/>
                        </a:rPr>
                        <a:t>binds</a:t>
                      </a:r>
                      <a:r>
                        <a:t>, 측정 종류, 출처)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포함 기준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측정 메타데이터 (부등호, 반복 측정, 리간드 크기 등)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제외 및 플래그 기록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좌표 계산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쿼리, A의 학습 split, Pharos, AlphaFold DB, PDB/SIFTS, 발행일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쿼리별 난이도 좌표와 유효성 플래그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교차 검증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쿼리 초안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2인 </a:t>
                      </a:r>
                      <a:r>
                        <a:rPr dirty="0" err="1"/>
                        <a:t>검증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기록</a:t>
                      </a:r>
                      <a:r>
                        <a:rPr dirty="0"/>
                        <a:t>, </a:t>
                      </a:r>
                      <a:r>
                        <a:rPr dirty="0">
                          <a:latin typeface="Courier"/>
                        </a:rPr>
                        <a:t>results/benchmark/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확정본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818D-09AE-4CD2-3C65-237AD773C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ML과 보정 트랙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6548973"/>
              </p:ext>
            </p:extLst>
          </p:nvPr>
        </p:nvGraphicFramePr>
        <p:xfrm>
          <a:off x="838200" y="1816100"/>
          <a:ext cx="105156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4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7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32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출력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A. 보정된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ESM-2 단백질 임베딩, Morgan fingerprint, AlphaFold DB pocket feature, 학습 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binds</a:t>
                      </a:r>
                      <a:r>
                        <a:t> 확률, conformal 예측 집합 (</a:t>
                      </a:r>
                      <a:r>
                        <a:rPr>
                          <a:latin typeface="Courier"/>
                        </a:rPr>
                        <a:t>{binds, not binds}</a:t>
                      </a:r>
                      <a:r>
                        <a:t>이면 기권)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F. Boltz-2 (GPU 조건부)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서열 + SMILES, 난이도 층화 200쌍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affinity_probability_binary</a:t>
                      </a:r>
                      <a:r>
                        <a:t>, </a:t>
                      </a:r>
                      <a:r>
                        <a:rPr>
                          <a:latin typeface="Courier"/>
                        </a:rPr>
                        <a:t>ligand_iptm</a:t>
                      </a:r>
                      <a:r>
                        <a:t>, conformal 예측 집합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 절차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에이전트 트랙의 신뢰도 로그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 err="1"/>
                        <a:t>A와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같은</a:t>
                      </a:r>
                      <a:r>
                        <a:rPr dirty="0"/>
                        <a:t> conformal </a:t>
                      </a:r>
                      <a:r>
                        <a:rPr dirty="0" err="1"/>
                        <a:t>절차를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적용한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예측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집합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6CD0935-628C-FB22-2B39-A94DC5D0DDF2}"/>
              </a:ext>
            </a:extLst>
          </p:cNvPr>
          <p:cNvSpPr txBox="1"/>
          <p:nvPr/>
        </p:nvSpPr>
        <p:spPr>
          <a:xfrm>
            <a:off x="838200" y="4875006"/>
            <a:ext cx="107781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en-US" sz="1400" dirty="0"/>
              <a:t>OpenFold3</a:t>
            </a:r>
            <a:r>
              <a:rPr lang="ko-KR" altLang="en-US" sz="1400" dirty="0"/>
              <a:t>는 </a:t>
            </a:r>
            <a:r>
              <a:rPr lang="en-US" sz="1400" dirty="0"/>
              <a:t>F</a:t>
            </a:r>
            <a:r>
              <a:rPr lang="ko-KR" altLang="en-US" sz="1400" dirty="0"/>
              <a:t>에서 빠지고 구조 품질 레퍼런스로 씁니다</a:t>
            </a:r>
            <a:r>
              <a:rPr lang="en-US" altLang="ko-KR" sz="1400" dirty="0"/>
              <a:t>. </a:t>
            </a:r>
            <a:r>
              <a:rPr lang="ko-KR" altLang="en-US" sz="1400" dirty="0"/>
              <a:t>조사한 </a:t>
            </a:r>
            <a:r>
              <a:rPr lang="en-US" sz="1400" dirty="0"/>
              <a:t>co-folding </a:t>
            </a:r>
            <a:r>
              <a:rPr lang="ko-KR" altLang="en-US" sz="1400" dirty="0"/>
              <a:t>모델 </a:t>
            </a:r>
            <a:r>
              <a:rPr lang="en-US" altLang="ko-KR" sz="1400" dirty="0"/>
              <a:t>7</a:t>
            </a:r>
            <a:r>
              <a:rPr lang="ko-KR" altLang="en-US" sz="1400" dirty="0"/>
              <a:t>개 중 </a:t>
            </a:r>
            <a:r>
              <a:rPr lang="en-US" sz="1400" dirty="0"/>
              <a:t>affinity</a:t>
            </a:r>
            <a:r>
              <a:rPr lang="ko-KR" altLang="en-US" sz="1400" dirty="0" err="1"/>
              <a:t>를</a:t>
            </a:r>
            <a:r>
              <a:rPr lang="ko-KR" altLang="en-US" sz="1400" dirty="0"/>
              <a:t> 출력하는 것은 </a:t>
            </a:r>
            <a:r>
              <a:rPr lang="en-US" sz="1400" dirty="0"/>
              <a:t>Boltz-2</a:t>
            </a:r>
            <a:r>
              <a:rPr lang="ko-KR" altLang="en-US" sz="1400" dirty="0"/>
              <a:t>뿐입니다</a:t>
            </a:r>
            <a:r>
              <a:rPr lang="en-US" altLang="ko-KR" sz="1400"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818D-09AE-4CD2-3C65-237AD773C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에이전트 트랙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898358"/>
              </p:ext>
            </p:extLst>
          </p:nvPr>
        </p:nvGraphicFramePr>
        <p:xfrm>
          <a:off x="838200" y="1816100"/>
          <a:ext cx="10515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5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5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5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출력 (JSON)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B. Zero-shot 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서열 + SMILES, 도구 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binds</a:t>
                      </a:r>
                      <a:r>
                        <a:t>, </a:t>
                      </a:r>
                      <a:r>
                        <a:rPr>
                          <a:latin typeface="Courier"/>
                        </a:rPr>
                        <a:t>confidence</a:t>
                      </a:r>
                      <a:r>
                        <a:t>, </a:t>
                      </a:r>
                      <a:r>
                        <a:rPr>
                          <a:latin typeface="Courier"/>
                        </a:rPr>
                        <a:t>pAffinity</a:t>
                      </a:r>
                      <a:r>
                        <a:t>, </a:t>
                      </a:r>
                      <a:r>
                        <a:rPr>
                          <a:latin typeface="Courier"/>
                        </a:rPr>
                        <a:t>reasoning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C.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서열 + SMILES, ToolUniverse MCP 도구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 필드 + </a:t>
                      </a:r>
                      <a:r>
                        <a:rPr>
                          <a:latin typeface="Courier"/>
                        </a:rPr>
                        <a:t>identified_target</a:t>
                      </a:r>
                      <a:r>
                        <a:t>, </a:t>
                      </a:r>
                      <a:r>
                        <a:rPr>
                          <a:latin typeface="Courier"/>
                        </a:rPr>
                        <a:t>direct_measurement_found</a:t>
                      </a:r>
                      <a:r>
                        <a:t>, </a:t>
                      </a:r>
                      <a:r>
                        <a:rPr>
                          <a:latin typeface="Courier"/>
                        </a:rPr>
                        <a:t>evidence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D. Agent + 기권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C와 같음, 기권 허용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 필드 + </a:t>
                      </a:r>
                      <a:r>
                        <a:rPr>
                          <a:latin typeface="Courier"/>
                        </a:rPr>
                        <a:t>abstain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반복 실행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같은 쿼리 3회, temperature 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flip rate, 조건 E용 신뢰도 로그, 토큰·지연·비용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교란 감사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도구 출력에 오류 4종 주입 (단위, 엔트리, 동일성, 식별자)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 err="1"/>
                        <a:t>교란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탐지율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0C15CD-D3B6-8572-DDA4-7E6B32AA0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18" y="917944"/>
            <a:ext cx="11095364" cy="5022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1810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4715F-CCB5-3831-C13E-96BB1F700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E214B-CDDA-B304-5FF6-4FB1F0738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marL="0" lvl="0" indent="0">
              <a:buNone/>
            </a:pPr>
            <a:r>
              <a:rPr lang="ko-KR" altLang="en-US" dirty="0"/>
              <a:t>트랙 선정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01284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6DE4D-DE32-24D0-96D3-D509087A8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17833-8CB5-294B-D1EE-9423F4D69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ko-KR" altLang="en-US" dirty="0"/>
              <a:t>트랙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426830-5E28-60C0-F0BA-BF8598642523}"/>
              </a:ext>
            </a:extLst>
          </p:cNvPr>
          <p:cNvSpPr txBox="1"/>
          <p:nvPr/>
        </p:nvSpPr>
        <p:spPr>
          <a:xfrm>
            <a:off x="838199" y="1690688"/>
            <a:ext cx="1051559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| Role | Name | </a:t>
            </a:r>
            <a:r>
              <a:rPr lang="en-US" dirty="0" err="1"/>
              <a:t>담당</a:t>
            </a:r>
            <a:r>
              <a:rPr lang="en-US" dirty="0"/>
              <a:t> |</a:t>
            </a:r>
          </a:p>
          <a:p>
            <a:r>
              <a:rPr lang="en-US" dirty="0"/>
              <a:t>| --- | --- | --- |</a:t>
            </a:r>
          </a:p>
          <a:p>
            <a:r>
              <a:rPr lang="en-US" dirty="0"/>
              <a:t>| Builder | [@</a:t>
            </a:r>
            <a:r>
              <a:rPr lang="en-US" dirty="0" err="1"/>
              <a:t>ybaeus</a:t>
            </a:r>
            <a:r>
              <a:rPr lang="en-US" dirty="0"/>
              <a:t>](https://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ybaeus</a:t>
            </a:r>
            <a:r>
              <a:rPr lang="en-US" dirty="0"/>
              <a:t>) | </a:t>
            </a:r>
            <a:r>
              <a:rPr lang="en-US" dirty="0" err="1"/>
              <a:t>프로젝트</a:t>
            </a:r>
            <a:r>
              <a:rPr lang="en-US" dirty="0"/>
              <a:t> </a:t>
            </a:r>
            <a:r>
              <a:rPr lang="en-US" dirty="0" err="1"/>
              <a:t>리딩</a:t>
            </a:r>
            <a:r>
              <a:rPr lang="en-US" dirty="0"/>
              <a:t>, ML</a:t>
            </a:r>
            <a:r>
              <a:rPr lang="ko-KR" altLang="en-US" dirty="0"/>
              <a:t>과 보정</a:t>
            </a:r>
            <a:r>
              <a:rPr lang="en-US" dirty="0"/>
              <a:t>|</a:t>
            </a:r>
          </a:p>
          <a:p>
            <a:r>
              <a:rPr lang="en-US" dirty="0"/>
              <a:t>| Runner | </a:t>
            </a:r>
            <a:r>
              <a:rPr lang="en-US" dirty="0" err="1"/>
              <a:t>하민주</a:t>
            </a:r>
            <a:r>
              <a:rPr lang="en-US" dirty="0"/>
              <a:t> | </a:t>
            </a:r>
            <a:r>
              <a:rPr lang="en-US" dirty="0" err="1"/>
              <a:t>ML과</a:t>
            </a:r>
            <a:r>
              <a:rPr lang="en-US" dirty="0"/>
              <a:t> </a:t>
            </a:r>
            <a:r>
              <a:rPr lang="en-US" dirty="0" err="1"/>
              <a:t>보정</a:t>
            </a:r>
            <a:r>
              <a:rPr lang="en-US" dirty="0"/>
              <a:t> |</a:t>
            </a:r>
          </a:p>
          <a:p>
            <a:r>
              <a:rPr lang="en-US" dirty="0"/>
              <a:t>| Runner | </a:t>
            </a:r>
            <a:r>
              <a:rPr lang="en-US" dirty="0" err="1"/>
              <a:t>최호재</a:t>
            </a:r>
            <a:r>
              <a:rPr lang="en-US" dirty="0"/>
              <a:t> | </a:t>
            </a:r>
            <a:r>
              <a:rPr lang="en-US" dirty="0" err="1"/>
              <a:t>ML과</a:t>
            </a:r>
            <a:r>
              <a:rPr lang="en-US" dirty="0"/>
              <a:t> </a:t>
            </a:r>
            <a:r>
              <a:rPr lang="en-US" dirty="0" err="1"/>
              <a:t>보정</a:t>
            </a:r>
            <a:r>
              <a:rPr lang="en-US" dirty="0"/>
              <a:t> |</a:t>
            </a:r>
          </a:p>
          <a:p>
            <a:r>
              <a:rPr lang="en-US" dirty="0"/>
              <a:t>| Runner | </a:t>
            </a:r>
            <a:r>
              <a:rPr lang="en-US" dirty="0" err="1"/>
              <a:t>박소정</a:t>
            </a:r>
            <a:r>
              <a:rPr lang="en-US" dirty="0"/>
              <a:t> | </a:t>
            </a:r>
            <a:r>
              <a:rPr lang="en-US" dirty="0" err="1"/>
              <a:t>ML과</a:t>
            </a:r>
            <a:r>
              <a:rPr lang="en-US" dirty="0"/>
              <a:t> </a:t>
            </a:r>
            <a:r>
              <a:rPr lang="en-US" dirty="0" err="1"/>
              <a:t>보정</a:t>
            </a:r>
            <a:r>
              <a:rPr lang="en-US" dirty="0"/>
              <a:t> |</a:t>
            </a:r>
          </a:p>
          <a:p>
            <a:r>
              <a:rPr lang="en-US" dirty="0"/>
              <a:t>| Runner | </a:t>
            </a:r>
            <a:r>
              <a:rPr lang="en-US" dirty="0" err="1"/>
              <a:t>김태엽</a:t>
            </a:r>
            <a:r>
              <a:rPr lang="en-US" dirty="0"/>
              <a:t> | </a:t>
            </a:r>
            <a:r>
              <a:rPr lang="en-US" dirty="0" err="1"/>
              <a:t>에이전트와</a:t>
            </a:r>
            <a:r>
              <a:rPr lang="en-US" dirty="0"/>
              <a:t> </a:t>
            </a:r>
            <a:r>
              <a:rPr lang="en-US" dirty="0" err="1"/>
              <a:t>교란</a:t>
            </a:r>
            <a:r>
              <a:rPr lang="en-US" dirty="0"/>
              <a:t> </a:t>
            </a:r>
            <a:r>
              <a:rPr lang="en-US" dirty="0" err="1"/>
              <a:t>감사</a:t>
            </a:r>
            <a:r>
              <a:rPr lang="en-US" dirty="0"/>
              <a:t> |</a:t>
            </a:r>
          </a:p>
          <a:p>
            <a:r>
              <a:rPr lang="en-US" dirty="0"/>
              <a:t>| Runner | </a:t>
            </a:r>
            <a:r>
              <a:rPr lang="en-US" dirty="0" err="1"/>
              <a:t>서동영</a:t>
            </a:r>
            <a:r>
              <a:rPr lang="en-US" dirty="0"/>
              <a:t> | </a:t>
            </a:r>
            <a:r>
              <a:rPr lang="en-US" dirty="0" err="1"/>
              <a:t>에이전트와</a:t>
            </a:r>
            <a:r>
              <a:rPr lang="en-US" dirty="0"/>
              <a:t> </a:t>
            </a:r>
            <a:r>
              <a:rPr lang="en-US" dirty="0" err="1"/>
              <a:t>교란</a:t>
            </a:r>
            <a:r>
              <a:rPr lang="en-US" dirty="0"/>
              <a:t> </a:t>
            </a:r>
            <a:r>
              <a:rPr lang="en-US" dirty="0" err="1"/>
              <a:t>감사</a:t>
            </a:r>
            <a:r>
              <a:rPr lang="en-US" dirty="0"/>
              <a:t> |</a:t>
            </a:r>
          </a:p>
          <a:p>
            <a:r>
              <a:rPr lang="en-US" dirty="0"/>
              <a:t>| Runner | </a:t>
            </a:r>
            <a:r>
              <a:rPr lang="en-US" dirty="0" err="1"/>
              <a:t>차재민</a:t>
            </a:r>
            <a:r>
              <a:rPr lang="en-US" dirty="0"/>
              <a:t> | </a:t>
            </a:r>
            <a:r>
              <a:rPr lang="en-US" dirty="0" err="1"/>
              <a:t>에이전트와</a:t>
            </a:r>
            <a:r>
              <a:rPr lang="en-US" dirty="0"/>
              <a:t> </a:t>
            </a:r>
            <a:r>
              <a:rPr lang="en-US" dirty="0" err="1"/>
              <a:t>교란</a:t>
            </a:r>
            <a:r>
              <a:rPr lang="en-US" dirty="0"/>
              <a:t> </a:t>
            </a:r>
            <a:r>
              <a:rPr lang="en-US" dirty="0" err="1"/>
              <a:t>감사</a:t>
            </a:r>
            <a:r>
              <a:rPr lang="en-US" dirty="0"/>
              <a:t> |</a:t>
            </a:r>
          </a:p>
          <a:p>
            <a:r>
              <a:rPr lang="en-US" dirty="0"/>
              <a:t>| Runner | </a:t>
            </a:r>
            <a:r>
              <a:rPr lang="en-US" dirty="0" err="1"/>
              <a:t>정재훈</a:t>
            </a:r>
            <a:r>
              <a:rPr lang="en-US" dirty="0"/>
              <a:t> | </a:t>
            </a:r>
            <a:r>
              <a:rPr lang="en-US" dirty="0" err="1"/>
              <a:t>에이전트와</a:t>
            </a:r>
            <a:r>
              <a:rPr lang="en-US" dirty="0"/>
              <a:t> </a:t>
            </a:r>
            <a:r>
              <a:rPr lang="en-US" dirty="0" err="1"/>
              <a:t>교란</a:t>
            </a:r>
            <a:r>
              <a:rPr lang="en-US" dirty="0"/>
              <a:t> </a:t>
            </a:r>
            <a:r>
              <a:rPr lang="en-US" dirty="0" err="1"/>
              <a:t>감사</a:t>
            </a:r>
            <a:r>
              <a:rPr lang="en-US" dirty="0"/>
              <a:t> |</a:t>
            </a:r>
          </a:p>
          <a:p>
            <a:r>
              <a:rPr lang="en-US" dirty="0"/>
              <a:t>| Runner | </a:t>
            </a:r>
            <a:r>
              <a:rPr lang="en-US" dirty="0" err="1"/>
              <a:t>권예진</a:t>
            </a:r>
            <a:r>
              <a:rPr lang="en-US" dirty="0"/>
              <a:t> | </a:t>
            </a:r>
            <a:r>
              <a:rPr lang="en-US" dirty="0" err="1"/>
              <a:t>난이도</a:t>
            </a:r>
            <a:r>
              <a:rPr lang="en-US" dirty="0"/>
              <a:t> </a:t>
            </a:r>
            <a:r>
              <a:rPr lang="en-US" dirty="0" err="1"/>
              <a:t>좌표</a:t>
            </a:r>
            <a:r>
              <a:rPr lang="en-US" dirty="0"/>
              <a:t> </a:t>
            </a:r>
            <a:r>
              <a:rPr lang="en-US" dirty="0" err="1"/>
              <a:t>큐레이션</a:t>
            </a:r>
            <a:r>
              <a:rPr lang="en-US" dirty="0"/>
              <a:t> |</a:t>
            </a:r>
          </a:p>
          <a:p>
            <a:r>
              <a:rPr lang="en-US" dirty="0"/>
              <a:t>| Runner | </a:t>
            </a:r>
            <a:r>
              <a:rPr lang="en-US" dirty="0" err="1"/>
              <a:t>김시은</a:t>
            </a:r>
            <a:r>
              <a:rPr lang="en-US" dirty="0"/>
              <a:t> | </a:t>
            </a:r>
            <a:r>
              <a:rPr lang="en-US" dirty="0" err="1"/>
              <a:t>난이도</a:t>
            </a:r>
            <a:r>
              <a:rPr lang="en-US" dirty="0"/>
              <a:t> </a:t>
            </a:r>
            <a:r>
              <a:rPr lang="en-US" dirty="0" err="1"/>
              <a:t>좌표</a:t>
            </a:r>
            <a:r>
              <a:rPr lang="en-US" dirty="0"/>
              <a:t> </a:t>
            </a:r>
            <a:r>
              <a:rPr lang="en-US" dirty="0" err="1"/>
              <a:t>큐레이션</a:t>
            </a:r>
            <a:r>
              <a:rPr lang="en-US" dirty="0"/>
              <a:t> |</a:t>
            </a:r>
          </a:p>
          <a:p>
            <a:r>
              <a:rPr lang="en-US" dirty="0"/>
              <a:t>| Runner | </a:t>
            </a:r>
            <a:r>
              <a:rPr lang="en-US" dirty="0" err="1"/>
              <a:t>이성주</a:t>
            </a:r>
            <a:r>
              <a:rPr lang="en-US" dirty="0"/>
              <a:t> | </a:t>
            </a:r>
            <a:r>
              <a:rPr lang="en-US" dirty="0" err="1"/>
              <a:t>난이도</a:t>
            </a:r>
            <a:r>
              <a:rPr lang="en-US" dirty="0"/>
              <a:t> </a:t>
            </a:r>
            <a:r>
              <a:rPr lang="en-US" dirty="0" err="1"/>
              <a:t>좌표</a:t>
            </a:r>
            <a:r>
              <a:rPr lang="en-US" dirty="0"/>
              <a:t> </a:t>
            </a:r>
            <a:r>
              <a:rPr lang="en-US" dirty="0" err="1"/>
              <a:t>큐레이션</a:t>
            </a:r>
            <a:r>
              <a:rPr lang="en-US" dirty="0"/>
              <a:t> |</a:t>
            </a:r>
          </a:p>
          <a:p>
            <a:r>
              <a:rPr lang="en-US" dirty="0"/>
              <a:t>| Runner | </a:t>
            </a:r>
            <a:r>
              <a:rPr lang="en-US" dirty="0" err="1"/>
              <a:t>전소연</a:t>
            </a:r>
            <a:r>
              <a:rPr lang="en-US" dirty="0"/>
              <a:t> | </a:t>
            </a:r>
            <a:r>
              <a:rPr lang="en-US" dirty="0" err="1"/>
              <a:t>난이도</a:t>
            </a:r>
            <a:r>
              <a:rPr lang="en-US" dirty="0"/>
              <a:t> </a:t>
            </a:r>
            <a:r>
              <a:rPr lang="en-US" dirty="0" err="1"/>
              <a:t>좌표</a:t>
            </a:r>
            <a:r>
              <a:rPr lang="en-US" dirty="0"/>
              <a:t> </a:t>
            </a:r>
            <a:r>
              <a:rPr lang="en-US" dirty="0" err="1"/>
              <a:t>큐레이션</a:t>
            </a:r>
            <a:r>
              <a:rPr lang="en-US" dirty="0"/>
              <a:t> |</a:t>
            </a:r>
          </a:p>
        </p:txBody>
      </p:sp>
    </p:spTree>
    <p:extLst>
      <p:ext uri="{BB962C8B-B14F-4D97-AF65-F5344CB8AC3E}">
        <p14:creationId xmlns:p14="http://schemas.microsoft.com/office/powerpoint/2010/main" val="34283423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C61DD-C077-90AC-393D-47C4A380A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0F85C-EB9C-1CF2-F2E5-2CB9F64B2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marL="0" lvl="0" indent="0">
              <a:buNone/>
            </a:pPr>
            <a:r>
              <a:rPr lang="ko-KR" altLang="en-US" dirty="0"/>
              <a:t>트랙 리더 선정</a:t>
            </a:r>
            <a:r>
              <a:rPr lang="en-US" altLang="ko-KR" dirty="0"/>
              <a:t> + </a:t>
            </a:r>
            <a:r>
              <a:rPr lang="ko-KR" altLang="en-US" dirty="0"/>
              <a:t>활동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59314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38C4D-1413-86AF-C839-EB908BDEA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 </a:t>
            </a:r>
            <a:r>
              <a:rPr lang="ko-KR" altLang="en-US" dirty="0"/>
              <a:t>올리기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7AD51-0F9E-503D-3B0F-AD0D22C8B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https://github.com/Pseudo-Lab/abstain-dti</a:t>
            </a:r>
            <a:endParaRPr lang="en-US" dirty="0"/>
          </a:p>
          <a:p>
            <a:pPr lvl="1"/>
            <a:r>
              <a:rPr lang="ko-KR" altLang="en-US" dirty="0"/>
              <a:t>자기 트랙</a:t>
            </a:r>
            <a:r>
              <a:rPr lang="en-US" altLang="ko-KR" dirty="0"/>
              <a:t> branch </a:t>
            </a:r>
            <a:r>
              <a:rPr lang="ko-KR" altLang="en-US" dirty="0"/>
              <a:t>사용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dev</a:t>
            </a:r>
            <a:r>
              <a:rPr lang="ko-KR" altLang="en-US" dirty="0"/>
              <a:t> 로 </a:t>
            </a:r>
            <a:r>
              <a:rPr lang="en-US" altLang="ko-KR" dirty="0"/>
              <a:t>PR (at least one reviewer) </a:t>
            </a:r>
            <a:endParaRPr lang="en-US" dirty="0"/>
          </a:p>
          <a:p>
            <a:r>
              <a:rPr lang="en-US" dirty="0" err="1"/>
              <a:t>REAMD.md</a:t>
            </a:r>
            <a:r>
              <a:rPr lang="en-US" dirty="0"/>
              <a:t> </a:t>
            </a:r>
            <a:r>
              <a:rPr lang="ko-KR" altLang="en-US" dirty="0"/>
              <a:t>팀 테이블 이름에 </a:t>
            </a:r>
            <a:r>
              <a:rPr lang="ko-KR" altLang="en-US" dirty="0" err="1"/>
              <a:t>깃헙</a:t>
            </a:r>
            <a:r>
              <a:rPr lang="ko-KR" altLang="en-US" dirty="0"/>
              <a:t> 링크 언급 </a:t>
            </a:r>
            <a:endParaRPr lang="en-US" altLang="ko-KR" dirty="0"/>
          </a:p>
          <a:p>
            <a:r>
              <a:rPr lang="en-US" altLang="ko-KR" dirty="0"/>
              <a:t>HW: </a:t>
            </a:r>
            <a:r>
              <a:rPr lang="ko-KR" altLang="en-US" dirty="0"/>
              <a:t>다음주 발표할 논문 올리기 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*논문 </a:t>
            </a:r>
            <a:r>
              <a:rPr lang="en-US" altLang="ko-KR" dirty="0"/>
              <a:t>-&gt;</a:t>
            </a:r>
            <a:r>
              <a:rPr lang="ko-KR" altLang="en-US" dirty="0"/>
              <a:t> 실행 </a:t>
            </a:r>
            <a:r>
              <a:rPr lang="en-US" altLang="ko-KR" dirty="0">
                <a:hlinkClick r:id="rId3"/>
              </a:rPr>
              <a:t>https://github.com/ybaeus/Paper2Agent</a:t>
            </a:r>
            <a:r>
              <a:rPr lang="ko-KR" altLang="en-US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5539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9C280-0404-E4D3-3207-DCE4652FE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0CF54-B0B2-8781-F2F1-20B96EDD1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Thank you!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70544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46da4d3-ba20-4986-879c-49e262eff745}" enabled="1" method="Standard" siteId="{9f693e63-5e9e-4ced-98a4-8ab28f9d0c2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912</TotalTime>
  <Words>1192</Words>
  <Application>Microsoft Macintosh PowerPoint</Application>
  <PresentationFormat>Widescreen</PresentationFormat>
  <Paragraphs>149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Courier</vt:lpstr>
      <vt:lpstr>Office Theme</vt:lpstr>
      <vt:lpstr>Abstain-DTI</vt:lpstr>
      <vt:lpstr>Agenda</vt:lpstr>
      <vt:lpstr>스터디 룰 소개</vt:lpstr>
      <vt:lpstr>자기 소개</vt:lpstr>
      <vt:lpstr>Abstain-DTI 를 위한 온보딩</vt:lpstr>
      <vt:lpstr>PowerPoint Presentation</vt:lpstr>
      <vt:lpstr>Feedbacks will be given by</vt:lpstr>
      <vt:lpstr>문제 정의</vt:lpstr>
      <vt:lpstr>무엇이 문제인가</vt:lpstr>
      <vt:lpstr>근거</vt:lpstr>
      <vt:lpstr>난이도 정의</vt:lpstr>
      <vt:lpstr>PowerPoint Presentation</vt:lpstr>
      <vt:lpstr>INPUT &amp; OUTPUT</vt:lpstr>
      <vt:lpstr>모든 조건 공통</vt:lpstr>
      <vt:lpstr>큐레이션 트랙</vt:lpstr>
      <vt:lpstr>ML과 보정 트랙</vt:lpstr>
      <vt:lpstr>에이전트 트랙</vt:lpstr>
      <vt:lpstr>PowerPoint Presentation</vt:lpstr>
      <vt:lpstr>트랙 선정</vt:lpstr>
      <vt:lpstr>트랙</vt:lpstr>
      <vt:lpstr>트랙 리더 선정 + 활동</vt:lpstr>
      <vt:lpstr>PR 올리기 </vt:lpstr>
      <vt:lpstr>Thank you!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Bae, Yeji</dc:creator>
  <cp:lastModifiedBy>Bae, Yeji</cp:lastModifiedBy>
  <cp:revision>2</cp:revision>
  <dcterms:created xsi:type="dcterms:W3CDTF">2026-10-09T05:09:53Z</dcterms:created>
  <dcterms:modified xsi:type="dcterms:W3CDTF">2026-10-10T00:33:25Z</dcterms:modified>
</cp:coreProperties>
</file>