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9776"/>
    <p:restoredTop sz="94581"/>
  </p:normalViewPr>
  <p:slideViewPr>
    <p:cSldViewPr snapToGrid="0">
      <p:cViewPr varScale="1">
        <p:scale>
          <a:sx d="100" n="199"/>
          <a:sy d="100" n="199"/>
        </p:scale>
        <p:origin x="1600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94F-39FC-A9F9-D3E9-64D59CA5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DF903-72F2-4677-3580-4F46C495A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A859-5606-A93E-BB6F-FE16F709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24A4-46ED-C9C4-5A61-CCFFB924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D3E1-0EAB-F7EC-C0E7-20F434D8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7AE2-5834-0D17-3723-BA2E3B06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774D-A272-7376-3C02-00154366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ACF0F-A1F0-6D7E-CAF6-4CC2160F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9DA2A-2DEE-9610-8C02-76F0509BF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9484-120D-D4EA-1596-D41E29CD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D4205-C155-43D2-3731-EBD5BE6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70BC6-00BF-D9C6-1C28-7A40BF00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8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D8CC-70E9-FA50-0F0F-DA5B153F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14AFE-FC07-AEF4-5399-95D9EDE30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2301-6784-5487-9CE5-515F6B9AD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91A0C-DFC4-4605-55B2-B29681AF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87EFC-BE51-6533-6B61-DC3ABCB8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C7EBC-9AB8-862A-8745-6C5E18BA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3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B2AD-A834-85E2-9455-CEDEFD44E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F89C9-D432-482B-3D1F-D7D764DBB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84541-EF8D-D69A-90D8-E12D0EAA4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D6CD3-510F-BA81-1937-D70F85A8E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B1CC5-BFCB-7FF5-388B-300B270A6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70F96-EBE8-655D-4B5D-21A896F5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52A28-845B-5B57-014C-F6DAEBDF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DBFB1-EF9A-E20C-1ED9-9AC17AA6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FE5D-1D9A-CE6B-DA33-3F5044A3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D3800-44EC-6157-BDBF-02F42227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CD316-28D8-1FCB-0D4B-E9191C39E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FD85C-B0DC-AEF4-7156-74EE9A17C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3B442-B2E5-1F86-3413-1C236907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C32BD-B167-88EB-110D-207E1503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F0793-ECA8-D3CD-5338-A75B80A9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4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2C5-AEA2-D627-F76B-35C7AD5E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B2FA-4BA3-535D-51B2-E4593DE49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44C6D-89EA-24AC-1FF8-F95BD176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05508-C723-CD46-7318-308390F5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176D5-4632-D0A7-5613-74B545FF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8A436-F2F6-D971-481D-09EBD1D3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500A-DFB4-2498-10F9-06BA8E84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4B8A4-B9F6-E42A-516E-88B36466CA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E1EC0-4898-2864-C170-2722380CD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FEBAB-3519-3441-8AE8-7F450353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7188A-EA89-C55D-5EAB-931F3C22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B9FAA-B873-BCFD-7103-B4CEC9FA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9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068A-F98A-DC2F-8646-7B8BB920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3BFA2-71F6-AE7C-25AA-FD8A72333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96F7C-1016-F546-9830-7F57172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71129-282A-1331-AD62-5134D385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54ED1-728B-D5D6-4294-E2802D8A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8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62D5B-73D1-8D56-E3E9-D21C84F9A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3ABBE-8E6A-021D-0AD0-AB0C410D7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B8B5-7C35-5896-5020-6C5D27D8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38426-E4E3-EDB5-879E-4360EAA5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9713A-BCEF-C785-6908-C0CDDF9C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6342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5BFD4-EB75-80C8-7662-E0F69C89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4C73D-6FB5-32CC-AD90-F2DC3FCA8DB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49CAD-028A-64F6-17C5-1EF122878555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8C377-EEFB-4C45-8407-C8CDC7CEF1A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0952-12C2-2BCE-2C32-4C1FFB9C700B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9878C-25AD-FD28-B016-B54F5FE01B42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75C08-630F-454B-9756-F7746918E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615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claude.ai/artifact/VkNjGDDxE9S8b8eZsnMpjv" TargetMode="External" /><Relationship Id="rId4" Type="http://schemas.openxmlformats.org/officeDocument/2006/relationships/hyperlink" Target="https://github.com/Pseudo-Lab/abstain-dti/blob/dev/docs/onboarding/w01-drug_development_onboarding.html" TargetMode="External" /><Relationship Id="rId2" Type="http://schemas.openxmlformats.org/officeDocument/2006/relationships/image" Target="../media/image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Pseudo-Lab/abstain-dti" TargetMode="External" /><Relationship Id="rId3" Type="http://schemas.openxmlformats.org/officeDocument/2006/relationships/hyperlink" Target="https://github.com/ybaeus/Paper2Agent" TargetMode="Externa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cholar.google.com/citations?user=hpQO_7QAAAAJ&amp;hl=en" TargetMode="External" /><Relationship Id="rId3" Type="http://schemas.openxmlformats.org/officeDocument/2006/relationships/hyperlink" Target="https://scholar.google.com/citations?user=_PQ86mEAAAAJ&amp;hl=ko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94F-39FC-A9F9-D3E9-64D59CA5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Abstain-DTI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DF903-72F2-4677-3580-4F46C495AA44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 · 2026.10.10</a:t>
            </a:r>
            <a:br/>
            <a:br/>
            <a:r>
              <a:rPr/>
              <a:t>가짜연구소 13기 배예지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스터디 룰 소개</a:t>
            </a:r>
          </a:p>
          <a:p>
            <a:pPr lvl="0"/>
            <a:r>
              <a:rPr/>
              <a:t>자기소개 (업무, 위치, 취미 1개)</a:t>
            </a:r>
          </a:p>
          <a:p>
            <a:pPr lvl="0"/>
            <a:r>
              <a:rPr/>
              <a:t>Abstain-DTI를 위한 온보딩</a:t>
            </a:r>
          </a:p>
          <a:p>
            <a:pPr lvl="0"/>
            <a:r>
              <a:rPr/>
              <a:t>트랙 선정 및 트랙 리더 선정</a:t>
            </a:r>
          </a:p>
          <a:p>
            <a:pPr lvl="0"/>
            <a:r>
              <a:rPr/>
              <a:t>주차별 회의록 담당자 선정</a:t>
            </a:r>
          </a:p>
          <a:p>
            <a:pPr lvl="0"/>
            <a:r>
              <a:rPr/>
              <a:t>GPU 실물 확보 및 LLM API credit</a:t>
            </a:r>
          </a:p>
          <a:p>
            <a:pPr lvl="0"/>
            <a:r>
              <a:rPr/>
              <a:t>트랙별로 모여서 다음 주 발표할 논문 고르기</a:t>
            </a:r>
          </a:p>
          <a:p>
            <a:pPr lvl="0"/>
            <a:r>
              <a:rPr b="1"/>
              <a:t>오늘의 목표:</a:t>
            </a:r>
            <a:r>
              <a:rPr/>
              <a:t> PR 하나씩 올리기</a:t>
            </a:r>
          </a:p>
          <a:p>
            <a:pPr lvl="0"/>
            <a:r>
              <a:rPr b="1"/>
              <a:t>HW:</a:t>
            </a:r>
            <a:r>
              <a:rPr/>
              <a:t> 논문 발표자료 정리해서 깃헙에 올리기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스터디 룰 소개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2회 이상 무단 불참 시 제명</a:t>
            </a:r>
          </a:p>
          <a:p>
            <a:pPr lvl="0"/>
            <a:r>
              <a:rPr/>
              <a:t>카메라 on 필수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자기소개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Yeji Bae</a:t>
            </a:r>
          </a:p>
          <a:p>
            <a:pPr lvl="0" indent="0" marL="0">
              <a:buNone/>
            </a:pPr>
            <a:r>
              <a:rPr/>
              <a:t>Data Scientist / Computational Biologist at Seattle Children’s Hospital &amp; Research Institute</a:t>
            </a:r>
          </a:p>
          <a:p>
            <a:pPr lvl="0"/>
            <a:r>
              <a:rPr/>
              <a:t>Multi-omics Analysis</a:t>
            </a:r>
          </a:p>
          <a:p>
            <a:pPr lvl="0"/>
            <a:r>
              <a:rPr/>
              <a:t>DL model development (fine-tuning)</a:t>
            </a:r>
          </a:p>
          <a:p>
            <a:pPr lvl="0"/>
            <a:r>
              <a:rPr/>
              <a:t>Agent Engineering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Abstain-DTI를 위한 온보딩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문제 정의 :</a:t>
            </a:r>
          </a:p>
          <a:p>
            <a:pPr lvl="0"/>
            <a:r>
              <a:rPr/>
              <a:t>난이도 정의 :</a:t>
            </a:r>
          </a:p>
          <a:p>
            <a:pPr lvl="0"/>
            <a:r>
              <a:rPr/>
              <a:t>INPUT &amp; OUTPUT 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문제 정의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92C5-AEA2-D627-F76B-35C7AD5E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무엇이 문제인가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44C6D-89EA-24AC-1FF8-F95BD1763393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“LLM이 DTI 예측을 못 하는데도 그냥 답한다”에는 두 상황이 섞여 있습니다.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문제인가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약이 타겟에 붙지 않는다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아닙니다. 정답이 </a:t>
                      </a:r>
                      <a:r>
                        <a:rPr>
                          <a:latin typeface="Courier"/>
                        </a:rPr>
                        <a:t>binds = false</a:t>
                      </a:r>
                      <a:r>
                        <a:rPr/>
                        <a:t>일 뿐입니다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답할 근거가 없는 입력에 쉬운 입력과 같은 신뢰도로 답한다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문제입니다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LLM만의 문제가 아닙니다. 지도학습 모델(A)과 Boltz-2(F)에도 같은 질문을 합니다.</a:t>
            </a:r>
          </a:p>
          <a:p>
            <a:pPr lvl="0"/>
            <a:r>
              <a:rPr/>
              <a:t>기권 기능이 없어서 생기는 문제도 아닙니다. 신뢰도 점수가 난이도를 담고 있지 않으면, 기권 기능이 있어도 엉뚱한 문항에서 기권합니다.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DTI 예측기(지도학습 모델이든 LLM 에이전트든)는 입력이 자기가 아는 범위를 벗어나도 신뢰도를 낮추지 않을 수 있다. DTI 불확실성 연구는 random split과 cold split을 비교했을 뿐, 타겟·리간드 신규성이나 근거 가용성 같은 연속적인 난이도로 신뢰도와 기권을 층화하지 않았다. LLM 에이전트의 DTI 신뢰도를 잰 연구는 찾지 못했다.</a:t>
            </a:r>
          </a:p>
          <a:p>
            <a:pPr lvl="0" indent="0" marL="0">
              <a:buNone/>
            </a:pPr>
            <a:r>
              <a:rPr b="1"/>
              <a:t>벤치마크의 질문은 하나입니다.</a:t>
            </a:r>
            <a:r>
              <a:rPr/>
              <a:t> 신뢰도, 또는 기권 결정이 사전에 정한 난이도 d(x)를 따라가는가?</a:t>
            </a:r>
          </a:p>
          <a:p>
            <a:pPr lvl="0"/>
            <a:r>
              <a:rPr/>
              <a:t>“결함이 있다”가 아니라 “연속적인 난이도로 잰 곳이 없다”고 씁니다. DTI에서 결함의 직접 근거는 아직 없고, 인접 분야의 근거는 뒤에 정리했습니다.</a:t>
            </a:r>
          </a:p>
          <a:p>
            <a:pPr lvl="0"/>
            <a:r>
              <a:rPr/>
              <a:t>정답을 보기 전에 정할 수 있는 난이도 좌표가 필요합니다. 다음 절에서 정의합니다.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근거는 어디까지 있나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선행 문헌(Medea, Biomni, ToolUniverse, DrugAgent, LAB-Bench, BixBench) 중 AURC나 risk-coverage로 신뢰도의 순위를 잰 곳은 없습니다.</a:t>
            </a:r>
          </a:p>
          <a:p>
            <a:pPr lvl="0" indent="0" marL="0">
              <a:buNone/>
            </a:pPr>
            <a:r>
              <a:rPr b="1"/>
              <a:t>LAB-Bench</a:t>
            </a:r>
          </a:p>
          <a:p>
            <a:pPr lvl="0" indent="0" marL="0">
              <a:buNone/>
            </a:pPr>
            <a:r>
              <a:rPr/>
              <a:t>LAB-Bench는 생물학 연구 과제로 LLM을 시험하는 벤치마크입니다. 모든 문항에 “정보가 부족해 답할 수 없다” 보기를 주고, 답한 문항 비율(coverage)과 답한 문항 중 정답 비율(precision)을 따로 봅니다.</a:t>
            </a:r>
          </a:p>
          <a:p>
            <a:pPr lvl="0"/>
            <a:r>
              <a:rPr/>
              <a:t>Cloning Scenarios 과제에서 Gemini 1.5 Pro와 GPT-4-turbo는 다른 모델보다 기권을 많이 했습니다.</a:t>
            </a:r>
          </a:p>
          <a:p>
            <a:pPr lvl="0"/>
            <a:r>
              <a:rPr/>
              <a:t>그런데 답한 문항만 놓고 봐도 정답률이 가장 낮았습니다. 기권을 많이 해도 정답률은 오르지 않았습니다.</a:t>
            </a:r>
          </a:p>
          <a:p>
            <a:pPr lvl="0" indent="0" marL="0">
              <a:buNone/>
            </a:pPr>
            <a:r>
              <a:rPr b="1"/>
              <a:t>DrugAgent (kinase)</a:t>
            </a:r>
          </a:p>
          <a:p>
            <a:pPr lvl="0" indent="0" marL="0">
              <a:buNone/>
            </a:pPr>
            <a:r>
              <a:rPr/>
              <a:t>DrugAgent는 LLM 여러 개가 문헌과 DB를 찾아보고 약이 타겟에 붙는지 판단하는 에이전트입니다. 저자들은 kinase 평가 문제를 “그 약-타겟 쌍을 직접 다룬 논문이 몇 편 있는가”로 나눠서 정확도를 봤습니다.</a:t>
            </a:r>
          </a:p>
          <a:p>
            <a:pPr lvl="0"/>
            <a:r>
              <a:rPr/>
              <a:t>논문이 1편 이상 있으면 DrugAgent가 일반 ML 모델(ML+KG)보다 잘 맞혔습니다.</a:t>
            </a:r>
          </a:p>
          <a:p>
            <a:pPr lvl="0"/>
            <a:r>
              <a:rPr/>
              <a:t>논문이 0편이면 일반 ML 모델과 비슷하거나 더 못했습니다.</a:t>
            </a:r>
          </a:p>
          <a:p>
            <a:pPr lvl="0" indent="0" marL="0">
              <a:buNone/>
            </a:pPr>
            <a:r>
              <a:rPr/>
              <a:t>출처: LAB-Bench arXiv:2407.10362 · DrugAgent arXiv:2408.13378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근거는 어디까지 있나 (계속)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기권 채점</a:t>
            </a:r>
          </a:p>
          <a:p>
            <a:pPr lvl="0" indent="0" marL="0">
              <a:buNone/>
            </a:pPr>
            <a:r>
              <a:rPr/>
              <a:t>기권을 점수에 어떻게 넣을지는 논문마다 다릅니다. 같은 기권이라도 채점 방식에 따라 점수가 달라집니다.</a:t>
            </a:r>
          </a:p>
          <a:p>
            <a:pPr lvl="0"/>
            <a:r>
              <a:rPr/>
              <a:t>ToolUniverse는 기권을 오답으로 셉니다.</a:t>
            </a:r>
          </a:p>
          <a:p>
            <a:pPr lvl="0"/>
            <a:r>
              <a:rPr/>
              <a:t>Medea와 BixBench는 기권한 문항을 빼고 나머지로 정답률을 계산합니다.</a:t>
            </a:r>
          </a:p>
          <a:p>
            <a:pPr lvl="0"/>
            <a:r>
              <a:rPr/>
              <a:t>LAB-Bench는 두 방식을 모두 보고합니다.</a:t>
            </a:r>
          </a:p>
          <a:p>
            <a:pPr lvl="0" indent="0" marL="0">
              <a:buNone/>
            </a:pPr>
            <a:r>
              <a:rPr b="1"/>
              <a:t>BixBench (객관식)</a:t>
            </a:r>
          </a:p>
          <a:p>
            <a:pPr lvl="0" indent="0" marL="0">
              <a:buNone/>
            </a:pPr>
            <a:r>
              <a:rPr/>
              <a:t>BixBench는 컴퓨터 생물학 분석 과제로 LLM 에이전트를 시험하는 벤치마크입니다. 객관식 문항에 “정보가 부족하다” 보기를 넣은 조건과 뺀 조건을 비교했습니다.</a:t>
            </a:r>
          </a:p>
          <a:p>
            <a:pPr lvl="0"/>
            <a:r>
              <a:rPr/>
              <a:t>기권 보기가 있으면 성능이 무작위로 찍는 수준에 가까워졌습니다.</a:t>
            </a:r>
          </a:p>
          <a:p>
            <a:pPr lvl="0"/>
            <a:r>
              <a:rPr/>
              <a:t>기권 보기가 없으면 무작위보다 높았습니다.</a:t>
            </a:r>
          </a:p>
          <a:p>
            <a:pPr lvl="0" indent="0" marL="0">
              <a:buNone/>
            </a:pPr>
            <a:r>
              <a:rPr/>
              <a:t>출처: ToolUniverse arXiv:2509.23426 · Medea DOI 10.64898/2026.01.16.696667 · BixBench arXiv:2503.00096 · LAB-Bench arXiv:2407.10362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최근 근거: DTI 불확실성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Rakhshaninejad et al. (2025), DTI conformal prediction</a:t>
            </a:r>
          </a:p>
          <a:p>
            <a:pPr lvl="0" indent="0" marL="0">
              <a:buNone/>
            </a:pPr>
            <a:r>
              <a:rPr/>
              <a:t>DTI 예측에 conformal prediction을 적용하고, KIBA 데이터를 네 방식(random, 처음 보는 약물, 처음 보는 단백질, 둘 다 처음)으로 나눠 시험했습니다.</a:t>
            </a:r>
          </a:p>
          <a:p>
            <a:pPr lvl="0"/>
            <a:r>
              <a:rPr/>
              <a:t>처음 보는 약물과 단백질이 섞일수록 예측이 어려워졌습니다.</a:t>
            </a:r>
          </a:p>
          <a:p>
            <a:pPr lvl="0"/>
            <a:r>
              <a:rPr/>
              <a:t>처음 보는 약물 split에서는 어떤 방법도 목표 coverage(95%)를 일관되게 맞추지 못했습니다.</a:t>
            </a:r>
          </a:p>
          <a:p>
            <a:pPr lvl="0"/>
            <a:r>
              <a:rPr/>
              <a:t>난이도는 split 종류 하나뿐이고, LLM은 다루지 않았습니다.</a:t>
            </a:r>
          </a:p>
          <a:p>
            <a:pPr lvl="0" indent="0" marL="0">
              <a:buNone/>
            </a:pPr>
            <a:r>
              <a:rPr b="1"/>
              <a:t>EviDTI (Nat Commun 2025)</a:t>
            </a:r>
          </a:p>
          <a:p>
            <a:pPr lvl="0" indent="0" marL="0">
              <a:buNone/>
            </a:pPr>
            <a:r>
              <a:rPr/>
              <a:t>불확실성을 함께 출력하는 DTI 모델입니다. 학습에 없던 약물 10%로 테스트셋을 만들었습니다.</a:t>
            </a:r>
          </a:p>
          <a:p>
            <a:pPr lvl="0"/>
            <a:r>
              <a:rPr/>
              <a:t>틀린 예측일수록 불확실성이 높았습니다.</a:t>
            </a:r>
          </a:p>
          <a:p>
            <a:pPr lvl="0"/>
            <a:r>
              <a:rPr/>
              <a:t>약물이 얼마나 새로운지에 따라 불확실성이 변하는지는 보지 않았습니다.</a:t>
            </a:r>
          </a:p>
          <a:p>
            <a:pPr lvl="0" indent="0" marL="0">
              <a:buNone/>
            </a:pPr>
            <a:r>
              <a:rPr/>
              <a:t>출처: Rakhshaninejad arXiv:2505.18890 · EviDTI DOI 10.1038/s41467-025-62235-6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최근 근거: co-folding과 화학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Škrinjar et al. (2025), co-folding</a:t>
            </a:r>
          </a:p>
          <a:p>
            <a:pPr lvl="0" indent="0" marL="0">
              <a:buNone/>
            </a:pPr>
            <a:r>
              <a:rPr/>
              <a:t>AlphaFold3, Chai-1, Protenix, Boltz-1을 학습 cutoff 이후 공개된 복합체 2,600개로 시험했습니다.</a:t>
            </a:r>
          </a:p>
          <a:p>
            <a:pPr lvl="0"/>
            <a:r>
              <a:rPr/>
              <a:t>학습 데이터와 비슷한 복합체일수록 결합 자세를 잘 맞혔습니다.</a:t>
            </a:r>
          </a:p>
          <a:p>
            <a:pPr lvl="0"/>
            <a:r>
              <a:rPr/>
              <a:t>모델의 confidence 점수로 걸러도 이 문제는 남았습니다.</a:t>
            </a:r>
          </a:p>
          <a:p>
            <a:pPr lvl="0"/>
            <a:r>
              <a:rPr/>
              <a:t>affinity가 아니라 결합 자세 예측입니다.</a:t>
            </a:r>
          </a:p>
          <a:p>
            <a:pPr lvl="0" indent="0" marL="0">
              <a:buNone/>
            </a:pPr>
            <a:r>
              <a:rPr b="1"/>
              <a:t>ChemBench (Nat Chem 2025)</a:t>
            </a:r>
          </a:p>
          <a:p>
            <a:pPr lvl="0" indent="0" marL="0">
              <a:buNone/>
            </a:pPr>
            <a:r>
              <a:rPr/>
              <a:t>화학 문제로 LLM을 시험하고, 문제마다 자신감을 1-5로 답하게 했습니다. 우리 조건 B, C, D와 같은 자기보고 방식입니다.</a:t>
            </a:r>
          </a:p>
          <a:p>
            <a:pPr lvl="0"/>
            <a:r>
              <a:rPr/>
              <a:t>대부분의 모델이 보정되지 않았고, 자신감이 오해를 부르는 경우가 있었습니다.</a:t>
            </a:r>
          </a:p>
          <a:p>
            <a:pPr lvl="0"/>
            <a:r>
              <a:rPr/>
              <a:t>저자들은 많은 모델이 자기 한계를 믿을 만하게 추정하지 못한다고 결론지었습니다.</a:t>
            </a:r>
          </a:p>
          <a:p>
            <a:pPr lvl="0" indent="0" marL="0">
              <a:buNone/>
            </a:pPr>
            <a:r>
              <a:rPr/>
              <a:t>출처: Škrinjar bioRxiv 10.1101/2025.02.03.636309 (v1) · ChemBench DOI 10.1038/s41557-025-01815-x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난이도 정의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난이도는 무엇에 대한 난이도인가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난이도는 (서열, SMILES) 자체의 속성이 아닙니다. </a:t>
            </a:r>
            <a:r>
              <a:rPr b="1"/>
              <a:t>기준 코퍼스</a:t>
            </a:r>
            <a:r>
              <a:rPr/>
              <a:t>에 대한 상대적 속성입니다.</a:t>
            </a:r>
          </a:p>
          <a:p>
            <a:pPr lvl="0"/>
            <a:r>
              <a:rPr/>
              <a:t>조건 A의 기준은 BindingDB 학습 split입니다. LLM 에이전트의 기준은 사전학습 데이터와 도구가 닿는 모든 DB입니다.</a:t>
            </a:r>
          </a:p>
          <a:p>
            <a:pPr lvl="0"/>
            <a:r>
              <a:rPr/>
              <a:t>예를 들어 A의 학습셋에 없는 타겟도, ChEMBL을 검색하는 에이전트에게는 단순 조회일 수 있습니다.</a:t>
            </a:r>
          </a:p>
          <a:p>
            <a:pPr lvl="0"/>
            <a:r>
              <a:rPr/>
              <a:t>그래서 축마다 기준 코퍼스와 유효한 조건을 함께 적습니다.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난이도 좌표: 네 묶음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묶음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유효한 조건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보편 난이도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타겟 성숙도 (Pharos TDL), 문헌 가용성 (새로 추가)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 조건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학습 split 기준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리간드 신규성 (Tanimoto, Murcko scaffold), 타겟 신규성 (서열 identity)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A에 직접. 나머지 조건에 통하는지는 검증 전 가정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구조 (조건부)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pocket pLDDT/PAE, 실험 구조 유무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구조를 쓰는 A, F. 티켓 04 실측 후 확정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Boltz-2 (조건부)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리간드 크기 (heavy atom 56개 초과), cofactor가 필요한 타겟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유효성 플래그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오염 축 (원측정 발행일), 실측값 직접 조회 여부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난이도가 아닙니다. 쿼리가 “예측”인지를 판정합니다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난이도 좌표는 모델에 입력하지 않습니다. 결과를 층화해 분석할 때만 씁니다.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난이도가 아닌 것: 라벨 노이즈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“이 scaffold는 처음 본다”는 예측기가 알아차릴 수 있습니다.</a:t>
            </a:r>
          </a:p>
          <a:p>
            <a:pPr lvl="0"/>
            <a:r>
              <a:rPr/>
              <a:t>“이 IC50은 특이한 조건에서 쟀다”, “5.9와 6.1의 경계다”는 알아차릴 수 없습니다. 입력이 아니라 정답의 속성입니다.</a:t>
            </a:r>
          </a:p>
          <a:p>
            <a:pPr lvl="0"/>
            <a:r>
              <a:rPr/>
              <a:t>그래서 난이도 축에서 빼고, 평가셋 </a:t>
            </a:r>
            <a:r>
              <a:rPr b="1"/>
              <a:t>포함 기준</a:t>
            </a:r>
            <a:r>
              <a:rPr/>
              <a:t>으로 처리합니다.</a:t>
            </a:r>
          </a:p>
          <a:p>
            <a:pPr lvl="1"/>
            <a:r>
              <a:rPr/>
              <a:t>1 µM 경계를 걸치는 검열값, 반복 측정, 회색 구간(5.5-6.5 제외 권고), degrader</a:t>
            </a:r>
          </a:p>
          <a:p>
            <a:pPr lvl="0"/>
            <a:r>
              <a:rPr/>
              <a:t>각 축이 실제 난이도를 대변하는지는 W06 baseline 오차가 축을 따라 커지는지로 검증합니다(티켓 05).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0D0C-9A5E-1DC8-B48D-462EC113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INPUT &amp; OUTPUT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모든 조건 공통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정의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단백질 서열 + 화합물 SMILES만. 타겟 식별자(UniProt ID 등)는 주지 않습니다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 결정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결합 여부 </a:t>
                      </a:r>
                      <a:r>
                        <a:rPr>
                          <a:latin typeface="Courier"/>
                        </a:rPr>
                        <a:t>binds</a:t>
                      </a:r>
                      <a:r>
                        <a:rPr/>
                        <a:t>. pAffinity ≥ 6.0 (Kd / Ki / IC50 ≤ 1 µM)이면 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출력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binds</a:t>
                      </a:r>
                      <a:r>
                        <a:rPr/>
                        <a:t>와 신뢰도, 또는 기권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 지표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AURC, coverage 80%에서의 selective accuracy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회귀(pAffinity). Ki와 Kd 정확값 부분집합에서만 보고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BindingDB </a:t>
                      </a:r>
                      <a:r>
                        <a:rPr>
                          <a:latin typeface="Courier"/>
                        </a:rPr>
                        <a:t>202610</a:t>
                      </a:r>
                      <a:r>
                        <a:rPr/>
                        <a:t> 스냅샷의 CC BY 4.0 부분 (1,436,782행)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음성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검열값 </a:t>
                      </a:r>
                      <a:r>
                        <a:rPr>
                          <a:latin typeface="Courier"/>
                        </a:rPr>
                        <a:t>&gt;10 µM</a:t>
                      </a:r>
                      <a:r>
                        <a:rPr/>
                        <a:t> + 측정된 약한 결합 (pAffinity &lt; 6). decoy 합성은 쓰지 않습니다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트랙 간 흐름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큐레이션 트랙</a:t>
            </a:r>
            <a:r>
              <a:rPr/>
              <a:t>이 평가 쿼리와 난이도 좌표를 만듭니다 (</a:t>
            </a:r>
            <a:r>
              <a:rPr>
                <a:latin typeface="Courier"/>
              </a:rPr>
              <a:t>results/benchmark/</a:t>
            </a:r>
            <a:r>
              <a:rPr/>
              <a:t>).</a:t>
            </a:r>
          </a:p>
          <a:p>
            <a:pPr lvl="0" indent="-457200" marL="457200">
              <a:buAutoNum type="arabicPeriod"/>
            </a:pPr>
            <a:r>
              <a:rPr b="1"/>
              <a:t>ML과 보정 트랙</a:t>
            </a:r>
            <a:r>
              <a:rPr/>
              <a:t>이 같은 쿼리로 조건 A와 F를 돌리고, conformal 절차를 구현합니다.</a:t>
            </a:r>
          </a:p>
          <a:p>
            <a:pPr lvl="0" indent="-457200" marL="457200">
              <a:buAutoNum type="arabicPeriod"/>
            </a:pPr>
            <a:r>
              <a:rPr b="1"/>
              <a:t>에이전트 트랙</a:t>
            </a:r>
            <a:r>
              <a:rPr/>
              <a:t>이 같은 쿼리로 조건 B, C, D를 돌리고 신뢰도 로그를 남깁니다.</a:t>
            </a:r>
          </a:p>
          <a:p>
            <a:pPr lvl="0" indent="-457200" marL="457200">
              <a:buAutoNum type="arabicPeriod"/>
            </a:pPr>
            <a:r>
              <a:rPr/>
              <a:t>조건 E는 에이전트 신뢰도 로그에 ML 트랙의 conformal 절차를 씌운 것입니다.</a:t>
            </a:r>
          </a:p>
          <a:p>
            <a:pPr lvl="0" indent="-457200" marL="457200">
              <a:buAutoNum type="arabicPeriod"/>
            </a:pPr>
            <a:r>
              <a:rPr/>
              <a:t>모든 조건의 출력을 난이도 좌표로 층화해 비교합니다.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큐레이션 트랙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출력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쿼리 선정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BindingDB </a:t>
                      </a:r>
                      <a:r>
                        <a:rPr>
                          <a:latin typeface="Courier"/>
                        </a:rPr>
                        <a:t>202610</a:t>
                      </a:r>
                      <a:r>
                        <a:rPr/>
                        <a:t> CC BY 부분 (Articles + Patents)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평가 쿼리 60-100개 (서열, SMILES, 정답 </a:t>
                      </a:r>
                      <a:r>
                        <a:rPr>
                          <a:latin typeface="Courier"/>
                        </a:rPr>
                        <a:t>binds</a:t>
                      </a:r>
                      <a:r>
                        <a:rPr/>
                        <a:t>, 측정 종류, 출처)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포함 기준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측정 메타데이터 (부등호, 반복 측정, 리간드 크기 등)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제외 및 플래그 기록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좌표 계산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쿼리, A의 학습 split, Pharos, AlphaFold DB, PDB/SIFTS, 발행일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쿼리별 난이도 좌표와 유효성 플래그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교차 검증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쿼리 초안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2인 검증 기록, </a:t>
                      </a:r>
                      <a:r>
                        <a:rPr>
                          <a:latin typeface="Courier"/>
                        </a:rPr>
                        <a:t>results/benchmark/</a:t>
                      </a:r>
                      <a:r>
                        <a:rPr/>
                        <a:t> 확정본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ML과 보정 트랙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출력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A. 보정된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ESM-2 단백질 임베딩, Morgan fingerprint, AlphaFold DB pocket feature, 학습 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binds</a:t>
                      </a:r>
                      <a:r>
                        <a:rPr/>
                        <a:t> 확률, conformal 예측 집합 (</a:t>
                      </a:r>
                      <a:r>
                        <a:rPr>
                          <a:latin typeface="Courier"/>
                        </a:rPr>
                        <a:t>{binds, not binds}</a:t>
                      </a:r>
                      <a:r>
                        <a:rPr/>
                        <a:t>이면 기권)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F. Boltz-2 (GPU 조건부)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서열 + SMILES, 난이도 층화 200쌍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affinity_probability_binary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ligand_iptm</a:t>
                      </a:r>
                      <a:r>
                        <a:rPr/>
                        <a:t>, conformal 예측 집합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 절차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에이전트 트랙의 신뢰도 로그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A와 같은 conformal 절차를 적용한 예측 집합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OpenFold3는 F에서 빠지고 구조 품질 레퍼런스로 씁니다. 조사한 co-folding 모델 7개 중 affinity를 출력하는 것은 Boltz-2뿐입니다.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에이전트 트랙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출력 (JSON)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B. Zero-shot 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서열 + SMILES, 도구 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binds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confidence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pAffinity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reasoning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C.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서열 + SMILES, ToolUniverse MCP 도구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 필드 + </a:t>
                      </a:r>
                      <a:r>
                        <a:rPr>
                          <a:latin typeface="Courier"/>
                        </a:rPr>
                        <a:t>identified_target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direct_measurement_found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evidence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D. Agent + 기권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C와 같음, 기권 허용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 필드 + </a:t>
                      </a:r>
                      <a:r>
                        <a:rPr>
                          <a:latin typeface="Courier"/>
                        </a:rPr>
                        <a:t>abstain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실행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같은 쿼리 3회, temperature 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flip rate, 조건 E용 신뢰도 로그, 토큰·지연·비용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교란 감사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 출력에 오류 4종 주입 (단위, 엔트리, 동일성, 식별자)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교란 탐지율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D8CC-70E9-FA50-0F0F-DA5B153F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온보딩 자료</a:t>
            </a:r>
          </a:p>
        </p:txBody>
      </p:sp>
      <p:pic>
        <p:nvPicPr>
          <p:cNvPr descr="assets/onboarding-artif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2794000"/>
            <a:ext cx="5181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2301-6784-5487-9CE5-515F6B9AD2FC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웹: </a:t>
            </a:r>
            <a:r>
              <a:rPr>
                <a:hlinkClick r:id="rId3"/>
              </a:rPr>
              <a:t>https://claude.ai/artifact/VkNjGDDxE9S8b8eZsnMpjv</a:t>
            </a:r>
          </a:p>
          <a:p>
            <a:pPr lvl="0"/>
            <a:r>
              <a:rPr/>
              <a:t>저장소: </a:t>
            </a:r>
            <a:r>
              <a:rPr>
                <a:hlinkClick r:id="rId4"/>
              </a:rPr>
              <a:t>docs/onboarding/w01-drug_development_onboarding.html</a:t>
            </a:r>
            <a:r>
              <a:rPr/>
              <a:t> (내려받아 브라우저로 열기)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 올리기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https://github.com/Pseudo-Lab/abstain-dti</a:t>
            </a:r>
          </a:p>
          <a:p>
            <a:pPr lvl="0"/>
            <a:r>
              <a:rPr/>
              <a:t>트랙 작업: 작업 브랜치 → 자기 트랙 브랜치 → dev 로 PR (리뷰어 1명 이상)</a:t>
            </a:r>
          </a:p>
          <a:p>
            <a:pPr lvl="0"/>
            <a:r>
              <a:rPr/>
              <a:t>트랙과 무관한 작업: dev에서 브랜치 → dev 로 PR</a:t>
            </a:r>
          </a:p>
          <a:p>
            <a:pPr lvl="0"/>
            <a:r>
              <a:rPr/>
              <a:t>README.md 팀 테이블 이름에 깃헙 링크 달기</a:t>
            </a:r>
          </a:p>
          <a:p>
            <a:pPr lvl="0"/>
            <a:r>
              <a:rPr/>
              <a:t>HW: 다음 주 발표할 논문 정리해서 자료 올리기</a:t>
            </a:r>
          </a:p>
          <a:p>
            <a:pPr lvl="1"/>
            <a:r>
              <a:rPr/>
              <a:t>논문 → 실행: </a:t>
            </a:r>
            <a:r>
              <a:rPr>
                <a:hlinkClick r:id="rId3"/>
              </a:rPr>
              <a:t>https://github.com/ybaeus/Paper2Agent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Feedbacks will be given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6120-0A55-3491-F9FC-FA77E459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UW Andre Berndt Lab postdoc 이다호 박사님 (</a:t>
            </a:r>
            <a:r>
              <a:rPr>
                <a:hlinkClick r:id="rId2"/>
              </a:rPr>
              <a:t>scholar</a:t>
            </a:r>
            <a:r>
              <a:rPr/>
              <a:t>)</a:t>
            </a:r>
          </a:p>
          <a:p>
            <a:pPr lvl="0"/>
            <a:r>
              <a:rPr/>
              <a:t>UW David Baker Lab postdoc 신호정 박사님 (</a:t>
            </a:r>
            <a:r>
              <a:rPr>
                <a:hlinkClick r:id="rId3"/>
              </a:rPr>
              <a:t>scholar</a:t>
            </a:r>
            <a:r>
              <a:rPr/>
              <a:t>)</a:t>
            </a:r>
          </a:p>
          <a:p>
            <a:pPr lvl="0"/>
            <a:r>
              <a:rPr/>
              <a:t>Duke PhD candidate 김종현님</a:t>
            </a:r>
          </a:p>
          <a:p>
            <a:pPr lvl="1"/>
            <a:r>
              <a:rPr/>
              <a:t>Kim, J. and Romero, P.A. (2026) ‘Benchmarking and behavioral characterization of LLM agents for protein design’, bioRxiv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818D-09AE-4CD2-3C65-237AD773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274</Words>
  <Application>Microsoft Macintosh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"Abstain-DTI" week 1</vt:lpstr>
      <vt:lpstr>Agenda</vt:lpstr>
      <vt:lpstr>스터디 룰 소개</vt:lpstr>
      <vt:lpstr>Ice breaking</vt:lpstr>
      <vt:lpstr>자기 소개</vt:lpstr>
      <vt:lpstr>Abstain-DTI 를 위한 온보딩</vt:lpstr>
      <vt:lpstr>PowerPoint Presentation</vt:lpstr>
      <vt:lpstr>PR 올리기 </vt:lpstr>
      <vt:lpstr>Feedbacks will be given by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Abstain-DTI</dc:title>
  <dc:creator>가짜연구소 13기 배예지</dc:creator>
  <cp:keywords/>
  <dcterms:created xsi:type="dcterms:W3CDTF">2026-10-10T00:07:43Z</dcterms:created>
  <dcterms:modified xsi:type="dcterms:W3CDTF">2026-10-10T00:07:43Z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week 1 · 2026.10.10</vt:lpwstr>
  </property>
  <property fmtid="{D5CDD505-2E9C-101B-9397-08002B2CF9AE}" pid="11" name="toc-title">
    <vt:lpwstr>목차</vt:lpwstr>
  </property>
</Properties>
</file>