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2" r:id="rId5"/>
    <p:sldId id="259" r:id="rId6"/>
    <p:sldId id="264" r:id="rId7"/>
    <p:sldId id="265" r:id="rId8"/>
    <p:sldId id="263" r:id="rId9"/>
    <p:sldId id="266" r:id="rId10"/>
    <p:sldId id="260" r:id="rId11"/>
    <p:sldId id="26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0F59FB-54BB-4924-A54C-99CDCD45DDA7}" v="185" dt="2026-10-17T01:43:18.0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2758A0-E876-4764-AFBD-628F0492E142}" type="datetimeFigureOut">
              <a:t>2026-10-16</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6FA7C7-C101-43C8-B44D-05FC442DC643}" type="slidenum">
              <a:t>‹#›</a:t>
            </a:fld>
            <a:endParaRPr lang="ko-KR" altLang="en-US"/>
          </a:p>
        </p:txBody>
      </p:sp>
    </p:spTree>
    <p:extLst>
      <p:ext uri="{BB962C8B-B14F-4D97-AF65-F5344CB8AC3E}">
        <p14:creationId xmlns:p14="http://schemas.microsoft.com/office/powerpoint/2010/main" val="24884667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개요: 2026년 Science에 게재된 자율형 바이오의학 AI 에이전트 Biomni에 관한 발표자료입니다. Biomni의 제작 과정(M&amp;M)과 함께 결합 친화도(Binding Affinity) 평가 및 가상 스크리닝 적용 방안을 중점적으로 다룹니다.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연구 배경: 생물학 연구는 도구, 데이터베이스, 프로토콜이 고도로 파편화되어 있습니다. Biomni는 이러한 한계를 극복하기 위해 문헌 기반으로 필요한 작업 환경을 구축하고, 코드를 직접 생성·실행하는 자율 에이전트 프레임워크를 제안합니다.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M&amp;M 개요: Biomni의 제작 방법론은 4단계로 구성됩니다. 1) bioRxiv 2,500편 논문 분석을 통한 액션 발굴, 2) 150개 도구, 105개 패키지, 59개 DB가 탑재된 Biomni-E1 환경 구축, 3) 코드 기반 액션과 적응형 계획 수립을 수행하는 Biomni-A1 아키텍처, 4) 환경 상호작용 강화학습(Biomni-R0)입니다.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84B93-848A-8CE0-4683-D1363643A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D47DC-D6AA-9A91-BE50-9A54BF88086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B2917FC-4E4E-7FCC-D3A9-CD91053504A1}"/>
              </a:ext>
            </a:extLst>
          </p:cNvPr>
          <p:cNvSpPr>
            <a:spLocks noGrp="1"/>
          </p:cNvSpPr>
          <p:nvPr>
            <p:ph type="body" sz="quarter" idx="3"/>
          </p:nvPr>
        </p:nvSpPr>
        <p:spPr/>
        <p:txBody>
          <a:bodyPr/>
          <a:lstStyle/>
          <a:p>
            <a:r>
              <a:t>M&amp;M 개요: Biomni의 제작 방법론은 4단계로 구성됩니다. 1) bioRxiv 2,500편 논문 분석을 통한 액션 발굴, 2) 150개 도구, 105개 패키지, 59개 DB가 탑재된 Biomni-E1 환경 구축, 3) 코드 기반 액션과 적응형 계획 수립을 수행하는 Biomni-A1 아키텍처, 4) 환경 상호작용 강화학습(Biomni-R0)입니다.</a:t>
            </a:r>
          </a:p>
        </p:txBody>
      </p:sp>
      <p:sp>
        <p:nvSpPr>
          <p:cNvPr id="4" name="Slide Number Placeholder 3">
            <a:extLst>
              <a:ext uri="{FF2B5EF4-FFF2-40B4-BE49-F238E27FC236}">
                <a16:creationId xmlns:a16="http://schemas.microsoft.com/office/drawing/2014/main" id="{288A2A01-CD36-2E11-CB0B-15E0FA20F026}"/>
              </a:ext>
            </a:extLst>
          </p:cNvPr>
          <p:cNvSpPr>
            <a:spLocks noGrp="1"/>
          </p:cNvSpPr>
          <p:nvPr>
            <p:ph type="sldNum" sz="quarter" idx="5"/>
          </p:nvPr>
        </p:nvSpPr>
        <p:spPr/>
      </p:sp>
    </p:spTree>
    <p:extLst>
      <p:ext uri="{BB962C8B-B14F-4D97-AF65-F5344CB8AC3E}">
        <p14:creationId xmlns:p14="http://schemas.microsoft.com/office/powerpoint/2010/main" val="1032172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실증 검증 사례: Biomni는 단순한 텍스트 답변 생성에 그치지 않고, 단백질 공학 최적화, 실제 웻랩에서 100% 검증된 B2M 유전자 클로닝, 로봇 액체 핸들러 물리 구동까지 광범위한 워크플로우를 실증했습니다.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F6D85-86D1-020E-FE27-798991F47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74D39-5327-1022-3438-D9CD079F13D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C1FF2FE-D3F6-14E2-6FC8-0CFF9A10ED5C}"/>
              </a:ext>
            </a:extLst>
          </p:cNvPr>
          <p:cNvSpPr>
            <a:spLocks noGrp="1"/>
          </p:cNvSpPr>
          <p:nvPr>
            <p:ph type="body" sz="quarter" idx="3"/>
          </p:nvPr>
        </p:nvSpPr>
        <p:spPr/>
        <p:txBody>
          <a:bodyPr/>
          <a:lstStyle/>
          <a:p>
            <a:r>
              <a:t>실증 검증 사례: Biomni는 단순한 텍스트 답변 생성에 그치지 않고, 단백질 공학 최적화, 실제 웻랩에서 100% 검증된 B2M 유전자 클로닝, 로봇 액체 핸들러 물리 구동까지 광범위한 워크플로우를 실증했습니다.</a:t>
            </a:r>
          </a:p>
        </p:txBody>
      </p:sp>
      <p:sp>
        <p:nvSpPr>
          <p:cNvPr id="4" name="Slide Number Placeholder 3">
            <a:extLst>
              <a:ext uri="{FF2B5EF4-FFF2-40B4-BE49-F238E27FC236}">
                <a16:creationId xmlns:a16="http://schemas.microsoft.com/office/drawing/2014/main" id="{BBE66303-46BB-D212-5945-C4418B4412BC}"/>
              </a:ext>
            </a:extLst>
          </p:cNvPr>
          <p:cNvSpPr>
            <a:spLocks noGrp="1"/>
          </p:cNvSpPr>
          <p:nvPr>
            <p:ph type="sldNum" sz="quarter" idx="5"/>
          </p:nvPr>
        </p:nvSpPr>
        <p:spPr/>
      </p:sp>
    </p:spTree>
    <p:extLst>
      <p:ext uri="{BB962C8B-B14F-4D97-AF65-F5344CB8AC3E}">
        <p14:creationId xmlns:p14="http://schemas.microsoft.com/office/powerpoint/2010/main" val="4196726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5E38F-30F4-C72A-E88B-A94860A95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6E09F-05C8-1144-EE41-27C80C8E2B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FC8EA10-12CB-3DE9-D2BA-A1113D2EE143}"/>
              </a:ext>
            </a:extLst>
          </p:cNvPr>
          <p:cNvSpPr>
            <a:spLocks noGrp="1"/>
          </p:cNvSpPr>
          <p:nvPr>
            <p:ph type="body" sz="quarter" idx="3"/>
          </p:nvPr>
        </p:nvSpPr>
        <p:spPr/>
        <p:txBody>
          <a:bodyPr/>
          <a:lstStyle/>
          <a:p>
            <a:r>
              <a:t>실증 검증 사례: Biomni는 단순한 텍스트 답변 생성에 그치지 않고, 단백질 공학 최적화, 실제 웻랩에서 100% 검증된 B2M 유전자 클로닝, 로봇 액체 핸들러 물리 구동까지 광범위한 워크플로우를 실증했습니다.</a:t>
            </a:r>
          </a:p>
        </p:txBody>
      </p:sp>
      <p:sp>
        <p:nvSpPr>
          <p:cNvPr id="4" name="Slide Number Placeholder 3">
            <a:extLst>
              <a:ext uri="{FF2B5EF4-FFF2-40B4-BE49-F238E27FC236}">
                <a16:creationId xmlns:a16="http://schemas.microsoft.com/office/drawing/2014/main" id="{DEFCC10F-54EC-7198-573A-4CCB29030824}"/>
              </a:ext>
            </a:extLst>
          </p:cNvPr>
          <p:cNvSpPr>
            <a:spLocks noGrp="1"/>
          </p:cNvSpPr>
          <p:nvPr>
            <p:ph type="sldNum" sz="quarter" idx="5"/>
          </p:nvPr>
        </p:nvSpPr>
        <p:spPr/>
      </p:sp>
    </p:spTree>
    <p:extLst>
      <p:ext uri="{BB962C8B-B14F-4D97-AF65-F5344CB8AC3E}">
        <p14:creationId xmlns:p14="http://schemas.microsoft.com/office/powerpoint/2010/main" val="633236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FBF5F-381D-F41F-AF30-2F79E6169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26FE8-CD20-08EC-754C-ACAA1CF4DD0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FEDE28A-F1C4-9847-5B2D-95E50AAFDFF3}"/>
              </a:ext>
            </a:extLst>
          </p:cNvPr>
          <p:cNvSpPr>
            <a:spLocks noGrp="1"/>
          </p:cNvSpPr>
          <p:nvPr>
            <p:ph type="body" sz="quarter" idx="3"/>
          </p:nvPr>
        </p:nvSpPr>
        <p:spPr/>
        <p:txBody>
          <a:bodyPr/>
          <a:lstStyle/>
          <a:p>
            <a:r>
              <a:t>실증 검증 사례: Biomni는 단순한 텍스트 답변 생성에 그치지 않고, 단백질 공학 최적화, 실제 웻랩에서 100% 검증된 B2M 유전자 클로닝, 로봇 액체 핸들러 물리 구동까지 광범위한 워크플로우를 실증했습니다.</a:t>
            </a:r>
          </a:p>
        </p:txBody>
      </p:sp>
      <p:sp>
        <p:nvSpPr>
          <p:cNvPr id="4" name="Slide Number Placeholder 3">
            <a:extLst>
              <a:ext uri="{FF2B5EF4-FFF2-40B4-BE49-F238E27FC236}">
                <a16:creationId xmlns:a16="http://schemas.microsoft.com/office/drawing/2014/main" id="{C3AF8387-8806-5B6D-7E0D-22FB77B4EAC2}"/>
              </a:ext>
            </a:extLst>
          </p:cNvPr>
          <p:cNvSpPr>
            <a:spLocks noGrp="1"/>
          </p:cNvSpPr>
          <p:nvPr>
            <p:ph type="sldNum" sz="quarter" idx="5"/>
          </p:nvPr>
        </p:nvSpPr>
        <p:spPr/>
      </p:sp>
    </p:spTree>
    <p:extLst>
      <p:ext uri="{BB962C8B-B14F-4D97-AF65-F5344CB8AC3E}">
        <p14:creationId xmlns:p14="http://schemas.microsoft.com/office/powerpoint/2010/main" val="2601084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2D224-81D3-6F10-9433-6FAF8929F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1B14D-1D6F-8D96-CA66-7FB736C37DF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0F3F6CB-7CFB-A2EE-FBE4-21DF6B21585B}"/>
              </a:ext>
            </a:extLst>
          </p:cNvPr>
          <p:cNvSpPr>
            <a:spLocks noGrp="1"/>
          </p:cNvSpPr>
          <p:nvPr>
            <p:ph type="body" sz="quarter" idx="3"/>
          </p:nvPr>
        </p:nvSpPr>
        <p:spPr/>
        <p:txBody>
          <a:bodyPr/>
          <a:lstStyle/>
          <a:p>
            <a:r>
              <a:t>실증 검증 사례: Biomni는 단순한 텍스트 답변 생성에 그치지 않고, 단백질 공학 최적화, 실제 웻랩에서 100% 검증된 B2M 유전자 클로닝, 로봇 액체 핸들러 물리 구동까지 광범위한 워크플로우를 실증했습니다.</a:t>
            </a:r>
          </a:p>
        </p:txBody>
      </p:sp>
      <p:sp>
        <p:nvSpPr>
          <p:cNvPr id="4" name="Slide Number Placeholder 3">
            <a:extLst>
              <a:ext uri="{FF2B5EF4-FFF2-40B4-BE49-F238E27FC236}">
                <a16:creationId xmlns:a16="http://schemas.microsoft.com/office/drawing/2014/main" id="{AD0F324C-95CD-C01D-F4F6-B03FF67AAB74}"/>
              </a:ext>
            </a:extLst>
          </p:cNvPr>
          <p:cNvSpPr>
            <a:spLocks noGrp="1"/>
          </p:cNvSpPr>
          <p:nvPr>
            <p:ph type="sldNum" sz="quarter" idx="5"/>
          </p:nvPr>
        </p:nvSpPr>
        <p:spPr/>
      </p:sp>
    </p:spTree>
    <p:extLst>
      <p:ext uri="{BB962C8B-B14F-4D97-AF65-F5344CB8AC3E}">
        <p14:creationId xmlns:p14="http://schemas.microsoft.com/office/powerpoint/2010/main" val="299905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결합 친화도 활용 방안: Biomni-E1에 이미 탑재된 도구들을 조합하여 4단계 파이프라인을 구축할 수 있습니다. BindingDB를 통한 기보고 친화도 데이터 마이닝, AlphaFold-2 및 DiffDock을 이용한 결합 자세 예측, DeepPurpose를 통한 대규모 가상 스크리닝, 그리고 PyLabRobot을 이용한 실제 실험 검증까지 유기적으로 연결됩니다.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결론 및 시사점: Biomni는 단순 자동화 스크립트가 아니라 연구의 복잡성과 오류를 극복하는 자율 에이전트입니다. 결합 친화도 평가를 비롯한 표적 약물 스크리닝에서 가상 예측과 물리 로봇 실험의 폐루프를 구현하여 생명과학 연구의 가속화를 이끌어낼 것입니다.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1097280" y="1371600"/>
            <a:ext cx="3291840" cy="4114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SCIENCE (2026) | BIOMEDICAL AI AGENT</a:t>
            </a:r>
          </a:p>
        </p:txBody>
      </p:sp>
      <p:sp>
        <p:nvSpPr>
          <p:cNvPr id="3" name="TextBox 2"/>
          <p:cNvSpPr txBox="1"/>
          <p:nvPr/>
        </p:nvSpPr>
        <p:spPr>
          <a:xfrm>
            <a:off x="1097280" y="2011680"/>
            <a:ext cx="9966960" cy="1169551"/>
          </a:xfrm>
          <a:prstGeom prst="rect">
            <a:avLst/>
          </a:prstGeom>
          <a:noFill/>
        </p:spPr>
        <p:txBody>
          <a:bodyPr wrap="square" lIns="0" tIns="0" rIns="0" bIns="0" anchor="t">
            <a:spAutoFit/>
          </a:bodyPr>
          <a:lstStyle/>
          <a:p>
            <a:pPr>
              <a:spcAft>
                <a:spcPts val="1200"/>
              </a:spcAft>
            </a:pPr>
            <a:r>
              <a:rPr sz="3800" b="1" dirty="0" err="1">
                <a:solidFill>
                  <a:srgbClr val="FFFFFF"/>
                </a:solidFill>
                <a:latin typeface="Noto Sans CJK KR"/>
              </a:rPr>
              <a:t>Biomni</a:t>
            </a:r>
            <a:r>
              <a:rPr sz="3800" b="1" dirty="0">
                <a:solidFill>
                  <a:srgbClr val="FFFFFF"/>
                </a:solidFill>
                <a:latin typeface="Noto Sans CJK KR"/>
              </a:rPr>
              <a:t>: </a:t>
            </a:r>
            <a:r>
              <a:rPr lang="en-US" sz="3800" dirty="0">
                <a:solidFill>
                  <a:srgbClr val="FFFFFF"/>
                </a:solidFill>
                <a:ea typeface="+mn-lt"/>
                <a:cs typeface="+mn-lt"/>
              </a:rPr>
              <a:t>Autonomous</a:t>
            </a:r>
            <a:r>
              <a:rPr lang="en-US" altLang="ko-KR" sz="3800" dirty="0">
                <a:solidFill>
                  <a:srgbClr val="FFFFFF"/>
                </a:solidFill>
                <a:ea typeface="+mn-lt"/>
                <a:cs typeface="+mn-lt"/>
              </a:rPr>
              <a:t> </a:t>
            </a:r>
            <a:r>
              <a:rPr lang="en-US" sz="3800" dirty="0">
                <a:solidFill>
                  <a:srgbClr val="FFFFFF"/>
                </a:solidFill>
                <a:ea typeface="+mn-lt"/>
                <a:cs typeface="+mn-lt"/>
              </a:rPr>
              <a:t>biomedical</a:t>
            </a:r>
            <a:r>
              <a:rPr lang="en-US" altLang="ko-KR" sz="3800" dirty="0">
                <a:solidFill>
                  <a:srgbClr val="FFFFFF"/>
                </a:solidFill>
                <a:ea typeface="+mn-lt"/>
                <a:cs typeface="+mn-lt"/>
              </a:rPr>
              <a:t> </a:t>
            </a:r>
            <a:r>
              <a:rPr lang="en-US" sz="3800" dirty="0">
                <a:solidFill>
                  <a:srgbClr val="FFFFFF"/>
                </a:solidFill>
                <a:ea typeface="+mn-lt"/>
                <a:cs typeface="+mn-lt"/>
              </a:rPr>
              <a:t>research</a:t>
            </a:r>
            <a:r>
              <a:rPr lang="en-US" altLang="ko-KR" sz="3800" dirty="0">
                <a:solidFill>
                  <a:srgbClr val="FFFFFF"/>
                </a:solidFill>
                <a:ea typeface="+mn-lt"/>
                <a:cs typeface="+mn-lt"/>
              </a:rPr>
              <a:t> </a:t>
            </a:r>
            <a:r>
              <a:rPr lang="en-US" sz="3800" dirty="0">
                <a:solidFill>
                  <a:srgbClr val="FFFFFF"/>
                </a:solidFill>
                <a:ea typeface="+mn-lt"/>
                <a:cs typeface="+mn-lt"/>
              </a:rPr>
              <a:t>with</a:t>
            </a:r>
            <a:r>
              <a:rPr lang="en-US" altLang="ko-KR" sz="3800" dirty="0">
                <a:solidFill>
                  <a:srgbClr val="FFFFFF"/>
                </a:solidFill>
                <a:ea typeface="+mn-lt"/>
                <a:cs typeface="+mn-lt"/>
              </a:rPr>
              <a:t> </a:t>
            </a:r>
            <a:r>
              <a:rPr lang="en-US" sz="3800" dirty="0">
                <a:solidFill>
                  <a:srgbClr val="FFFFFF"/>
                </a:solidFill>
                <a:ea typeface="+mn-lt"/>
                <a:cs typeface="+mn-lt"/>
              </a:rPr>
              <a:t>an</a:t>
            </a:r>
            <a:r>
              <a:rPr lang="en-US" altLang="ko-KR" sz="3800" dirty="0">
                <a:solidFill>
                  <a:srgbClr val="FFFFFF"/>
                </a:solidFill>
                <a:ea typeface="+mn-lt"/>
                <a:cs typeface="+mn-lt"/>
              </a:rPr>
              <a:t> </a:t>
            </a:r>
            <a:r>
              <a:rPr lang="en-US" sz="3800" dirty="0">
                <a:solidFill>
                  <a:srgbClr val="FFFFFF"/>
                </a:solidFill>
                <a:ea typeface="+mn-lt"/>
                <a:cs typeface="+mn-lt"/>
              </a:rPr>
              <a:t>artificial</a:t>
            </a:r>
            <a:r>
              <a:rPr lang="en-US" altLang="ko-KR" sz="3800" dirty="0">
                <a:solidFill>
                  <a:srgbClr val="FFFFFF"/>
                </a:solidFill>
                <a:ea typeface="+mn-lt"/>
                <a:cs typeface="+mn-lt"/>
              </a:rPr>
              <a:t> </a:t>
            </a:r>
            <a:r>
              <a:rPr lang="en-US" sz="3800" dirty="0">
                <a:solidFill>
                  <a:srgbClr val="FFFFFF"/>
                </a:solidFill>
                <a:ea typeface="+mn-lt"/>
                <a:cs typeface="+mn-lt"/>
              </a:rPr>
              <a:t>intelligence</a:t>
            </a:r>
            <a:r>
              <a:rPr lang="en-US" altLang="ko-KR" sz="3800" dirty="0">
                <a:solidFill>
                  <a:srgbClr val="FFFFFF"/>
                </a:solidFill>
                <a:ea typeface="+mn-lt"/>
                <a:cs typeface="+mn-lt"/>
              </a:rPr>
              <a:t> </a:t>
            </a:r>
            <a:r>
              <a:rPr lang="en-US" sz="3800" dirty="0">
                <a:solidFill>
                  <a:srgbClr val="FFFFFF"/>
                </a:solidFill>
                <a:ea typeface="+mn-lt"/>
                <a:cs typeface="+mn-lt"/>
              </a:rPr>
              <a:t>agent</a:t>
            </a:r>
            <a:endParaRPr sz="1800" dirty="0">
              <a:solidFill>
                <a:srgbClr val="94A3B8"/>
              </a:solidFill>
              <a:latin typeface="Noto Sans CJK KR"/>
            </a:endParaRPr>
          </a:p>
        </p:txBody>
      </p:sp>
      <p:sp>
        <p:nvSpPr>
          <p:cNvPr id="4" name="Rectangle 3"/>
          <p:cNvSpPr/>
          <p:nvPr/>
        </p:nvSpPr>
        <p:spPr>
          <a:xfrm>
            <a:off x="1097280" y="5120640"/>
            <a:ext cx="2331720" cy="10058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E0F2FE"/>
                </a:solidFill>
                <a:latin typeface="Noto Sans CJK KR"/>
              </a:rPr>
              <a:t>2,500 편</a:t>
            </a:r>
          </a:p>
          <a:p>
            <a:pPr algn="ctr"/>
            <a:r>
              <a:rPr sz="1100">
                <a:solidFill>
                  <a:srgbClr val="94A3B8"/>
                </a:solidFill>
                <a:latin typeface="Noto Sans CJK KR"/>
              </a:rPr>
              <a:t>최신 바이오 논문 마이닝</a:t>
            </a:r>
          </a:p>
        </p:txBody>
      </p:sp>
      <p:sp>
        <p:nvSpPr>
          <p:cNvPr id="5" name="Rectangle 4"/>
          <p:cNvSpPr/>
          <p:nvPr/>
        </p:nvSpPr>
        <p:spPr>
          <a:xfrm>
            <a:off x="3648456" y="5120640"/>
            <a:ext cx="2331720" cy="10058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E0F2FE"/>
                </a:solidFill>
                <a:latin typeface="Noto Sans CJK KR"/>
              </a:rPr>
              <a:t>150 + 105</a:t>
            </a:r>
          </a:p>
          <a:p>
            <a:pPr algn="ctr"/>
            <a:r>
              <a:rPr sz="1100">
                <a:solidFill>
                  <a:srgbClr val="94A3B8"/>
                </a:solidFill>
                <a:latin typeface="Noto Sans CJK KR"/>
              </a:rPr>
              <a:t>특화 생물학 도구 &amp; SW</a:t>
            </a:r>
          </a:p>
        </p:txBody>
      </p:sp>
      <p:sp>
        <p:nvSpPr>
          <p:cNvPr id="6" name="Rectangle 5"/>
          <p:cNvSpPr/>
          <p:nvPr/>
        </p:nvSpPr>
        <p:spPr>
          <a:xfrm>
            <a:off x="6199632" y="5120640"/>
            <a:ext cx="2331720" cy="10058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E0F2FE"/>
                </a:solidFill>
                <a:latin typeface="Noto Sans CJK KR"/>
              </a:rPr>
              <a:t>59 개</a:t>
            </a:r>
          </a:p>
          <a:p>
            <a:pPr algn="ctr"/>
            <a:r>
              <a:rPr sz="1100">
                <a:solidFill>
                  <a:srgbClr val="94A3B8"/>
                </a:solidFill>
                <a:latin typeface="Noto Sans CJK KR"/>
              </a:rPr>
              <a:t>관계형 생물학 데이터베이스</a:t>
            </a:r>
          </a:p>
        </p:txBody>
      </p:sp>
      <p:sp>
        <p:nvSpPr>
          <p:cNvPr id="7" name="Rectangle 6"/>
          <p:cNvSpPr/>
          <p:nvPr/>
        </p:nvSpPr>
        <p:spPr>
          <a:xfrm>
            <a:off x="8750808" y="5120640"/>
            <a:ext cx="2331720" cy="10058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E0F2FE"/>
                </a:solidFill>
                <a:latin typeface="Noto Sans CJK KR"/>
              </a:rPr>
              <a:t>Dry &amp; Wet</a:t>
            </a:r>
          </a:p>
          <a:p>
            <a:pPr algn="ctr"/>
            <a:r>
              <a:rPr sz="1100">
                <a:solidFill>
                  <a:srgbClr val="94A3B8"/>
                </a:solidFill>
                <a:latin typeface="Noto Sans CJK KR"/>
              </a:rPr>
              <a:t>가상 예측부터 로봇 어세이까지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728655" cy="1005840"/>
          </a:xfrm>
          <a:prstGeom prst="rect">
            <a:avLst/>
          </a:prstGeom>
          <a:noFill/>
        </p:spPr>
        <p:txBody>
          <a:bodyPr wrap="square" lIns="0" tIns="0" rIns="0" bIns="0">
            <a:spAutoFit/>
          </a:bodyPr>
          <a:lstStyle/>
          <a:p>
            <a:pPr algn="l">
              <a:spcAft>
                <a:spcPts val="400"/>
              </a:spcAft>
            </a:pPr>
            <a:r>
              <a:rPr sz="1100" b="1">
                <a:solidFill>
                  <a:srgbClr val="0284C7"/>
                </a:solidFill>
                <a:latin typeface="Arial"/>
              </a:rPr>
              <a:t>BACKGROUND &amp; PARADIGM SHIFT</a:t>
            </a:r>
          </a:p>
          <a:p>
            <a:pPr algn="l"/>
            <a:r>
              <a:rPr sz="2100" b="1">
                <a:solidFill>
                  <a:srgbClr val="0F172A"/>
                </a:solidFill>
                <a:latin typeface="Noto Sans CJK KR"/>
              </a:rPr>
              <a:t>2,500편의 논문 분석으로 분절된 생물학 워크플로우를 단일 시스템으로 통합하다</a:t>
            </a:r>
          </a:p>
        </p:txBody>
      </p:sp>
      <p:sp>
        <p:nvSpPr>
          <p:cNvPr id="3" name="Rectangle 2"/>
          <p:cNvSpPr/>
          <p:nvPr/>
        </p:nvSpPr>
        <p:spPr>
          <a:xfrm>
            <a:off x="731520" y="1463040"/>
            <a:ext cx="10728655" cy="1905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737360"/>
            <a:ext cx="5166360" cy="3858883"/>
          </a:xfrm>
          <a:prstGeom prst="rect">
            <a:avLst/>
          </a:prstGeom>
          <a:solidFill>
            <a:srgbClr val="FFFFFF"/>
          </a:solidFill>
          <a:ln w="19050">
            <a:solidFill>
              <a:srgbClr val="FE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737360"/>
            <a:ext cx="5166360" cy="54864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400" b="1">
                <a:solidFill>
                  <a:srgbClr val="991B1B"/>
                </a:solidFill>
                <a:latin typeface="Noto Sans CJK KR"/>
              </a:rPr>
              <a:t>기존 생물학 연구의 3대 한계 (Bottlenecks)</a:t>
            </a:r>
          </a:p>
        </p:txBody>
      </p:sp>
      <p:sp>
        <p:nvSpPr>
          <p:cNvPr id="6" name="TextBox 5"/>
          <p:cNvSpPr txBox="1"/>
          <p:nvPr/>
        </p:nvSpPr>
        <p:spPr>
          <a:xfrm>
            <a:off x="960120" y="2377440"/>
            <a:ext cx="4709160" cy="2926080"/>
          </a:xfrm>
          <a:prstGeom prst="rect">
            <a:avLst/>
          </a:prstGeom>
          <a:noFill/>
        </p:spPr>
        <p:txBody>
          <a:bodyPr wrap="square" lIns="0" tIns="0" rIns="0" bIns="0">
            <a:spAutoFit/>
          </a:bodyPr>
          <a:lstStyle/>
          <a:p>
            <a:pPr algn="l">
              <a:spcBef>
                <a:spcPts val="800"/>
              </a:spcBef>
              <a:spcAft>
                <a:spcPts val="200"/>
              </a:spcAft>
            </a:pPr>
            <a:r>
              <a:rPr sz="1300" b="1">
                <a:solidFill>
                  <a:srgbClr val="0F172A"/>
                </a:solidFill>
                <a:latin typeface="Noto Sans CJK KR"/>
              </a:rPr>
              <a:t>1. 도구와 데이터의 극심한 파편화
</a:t>
            </a:r>
            <a:r>
              <a:rPr sz="1100">
                <a:solidFill>
                  <a:srgbClr val="475569"/>
                </a:solidFill>
                <a:latin typeface="Noto Sans CJK KR"/>
              </a:rPr>
              <a:t>단백질 구조 예측, 도킹, 서열 분석 도구가 서로 다른 CLI, 파이썬 패키지, 웹 인터페이스로 단절되어 유기적 연계가 어려움.</a:t>
            </a:r>
          </a:p>
          <a:p>
            <a:pPr algn="l">
              <a:spcBef>
                <a:spcPts val="800"/>
              </a:spcBef>
              <a:spcAft>
                <a:spcPts val="200"/>
              </a:spcAft>
            </a:pPr>
            <a:r>
              <a:rPr sz="1300" b="1">
                <a:solidFill>
                  <a:srgbClr val="0F172A"/>
                </a:solidFill>
                <a:latin typeface="Noto Sans CJK KR"/>
              </a:rPr>
              <a:t>2. 수작업 중심의 파이프라인 유지보수
</a:t>
            </a:r>
            <a:r>
              <a:rPr sz="1100">
                <a:solidFill>
                  <a:srgbClr val="475569"/>
                </a:solidFill>
                <a:latin typeface="Noto Sans CJK KR"/>
              </a:rPr>
              <a:t>서로 다른 입출력 규격(FASTA, PDB, SDF, CSV)을 변환하고 스크립트를 연결하는 데 과도한 연구 시간과 인력 소모.</a:t>
            </a:r>
          </a:p>
          <a:p>
            <a:pPr algn="l">
              <a:spcBef>
                <a:spcPts val="800"/>
              </a:spcBef>
              <a:spcAft>
                <a:spcPts val="200"/>
              </a:spcAft>
            </a:pPr>
            <a:r>
              <a:rPr sz="1300" b="1">
                <a:solidFill>
                  <a:srgbClr val="0F172A"/>
                </a:solidFill>
                <a:latin typeface="Noto Sans CJK KR"/>
              </a:rPr>
              <a:t>3. 단순 예측과 실험 검증 간의 단절
</a:t>
            </a:r>
            <a:r>
              <a:rPr sz="1100">
                <a:solidFill>
                  <a:srgbClr val="475569"/>
                </a:solidFill>
                <a:latin typeface="Noto Sans CJK KR"/>
              </a:rPr>
              <a:t>컴퓨테이셔널 스크리닝 결과가 자동화된 웻랩(Wet-lab) 실험 프로토콜이나 로봇 제어로 원활히 이어지지 못함.</a:t>
            </a:r>
          </a:p>
        </p:txBody>
      </p:sp>
      <p:sp>
        <p:nvSpPr>
          <p:cNvPr id="7" name="Rectangle 6"/>
          <p:cNvSpPr/>
          <p:nvPr/>
        </p:nvSpPr>
        <p:spPr>
          <a:xfrm>
            <a:off x="6263640" y="1708606"/>
            <a:ext cx="5698322" cy="3815751"/>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63640" y="1737360"/>
            <a:ext cx="5166360" cy="548640"/>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400" b="1">
                <a:solidFill>
                  <a:srgbClr val="0369A1"/>
                </a:solidFill>
                <a:latin typeface="Noto Sans CJK KR"/>
              </a:rPr>
              <a:t>Biomni의 단일 통합 에이전트 솔루션</a:t>
            </a:r>
          </a:p>
        </p:txBody>
      </p:sp>
      <p:sp>
        <p:nvSpPr>
          <p:cNvPr id="9" name="TextBox 8"/>
          <p:cNvSpPr txBox="1"/>
          <p:nvPr/>
        </p:nvSpPr>
        <p:spPr>
          <a:xfrm>
            <a:off x="6492240" y="2291176"/>
            <a:ext cx="3630859" cy="2426305"/>
          </a:xfrm>
          <a:prstGeom prst="rect">
            <a:avLst/>
          </a:prstGeom>
          <a:noFill/>
        </p:spPr>
        <p:txBody>
          <a:bodyPr wrap="square" lIns="0" tIns="0" rIns="0" bIns="0">
            <a:spAutoFit/>
          </a:bodyPr>
          <a:lstStyle/>
          <a:p>
            <a:pPr algn="l">
              <a:spcBef>
                <a:spcPts val="800"/>
              </a:spcBef>
              <a:spcAft>
                <a:spcPts val="200"/>
              </a:spcAft>
            </a:pPr>
            <a:r>
              <a:rPr sz="1300" b="1">
                <a:solidFill>
                  <a:srgbClr val="0F172A"/>
                </a:solidFill>
                <a:latin typeface="Noto Sans CJK KR"/>
              </a:rPr>
              <a:t>1. 자연어 질문 기반의 자율 파이프라인 설계
</a:t>
            </a:r>
            <a:r>
              <a:rPr sz="1100">
                <a:solidFill>
                  <a:srgbClr val="475569"/>
                </a:solidFill>
                <a:latin typeface="Noto Sans CJK KR"/>
              </a:rPr>
              <a:t>연구자의 모호한 고차원 가설을 이해하고 단계별 실행 계획(Planning)과 필요한 소프트웨어/DB를 동적으로 검색.</a:t>
            </a:r>
          </a:p>
          <a:p>
            <a:pPr algn="l">
              <a:spcBef>
                <a:spcPts val="800"/>
              </a:spcBef>
              <a:spcAft>
                <a:spcPts val="200"/>
              </a:spcAft>
            </a:pPr>
            <a:r>
              <a:rPr sz="1300" b="1">
                <a:solidFill>
                  <a:srgbClr val="0F172A"/>
                </a:solidFill>
                <a:latin typeface="Noto Sans CJK KR"/>
              </a:rPr>
              <a:t>2. 코드 생성 기반 유연한 통합 (Code as Action)
</a:t>
            </a:r>
            <a:r>
              <a:rPr sz="1100">
                <a:solidFill>
                  <a:srgbClr val="475569"/>
                </a:solidFill>
                <a:latin typeface="Noto Sans CJK KR"/>
              </a:rPr>
              <a:t>정형화된 고정 API 대신 Python/R 코드를 직접 생성·실행하여 데이터 변환, 예외 처리, 조건 루프를 자유롭게 수행.</a:t>
            </a:r>
          </a:p>
          <a:p>
            <a:pPr algn="l">
              <a:spcBef>
                <a:spcPts val="800"/>
              </a:spcBef>
              <a:spcAft>
                <a:spcPts val="200"/>
              </a:spcAft>
            </a:pPr>
            <a:r>
              <a:rPr sz="1300" b="1">
                <a:solidFill>
                  <a:srgbClr val="0F172A"/>
                </a:solidFill>
                <a:latin typeface="Noto Sans CJK KR"/>
              </a:rPr>
              <a:t>3. 자율 디버깅 및 웻랩 연계 완결성
</a:t>
            </a:r>
            <a:r>
              <a:rPr sz="1100">
                <a:solidFill>
                  <a:srgbClr val="475569"/>
                </a:solidFill>
                <a:latin typeface="Noto Sans CJK KR"/>
              </a:rPr>
              <a:t>실행 도중 에러가 발생하면 관찰값(Observation)을 읽어 자율 디버깅하며, 로봇 액체 핸들러 제어 코드를 생성해 실험까지 연결.</a:t>
            </a:r>
          </a:p>
        </p:txBody>
      </p:sp>
      <p:pic>
        <p:nvPicPr>
          <p:cNvPr id="11" name="그림 10" descr="텍스트, 스크린샷, 폰트, 도표이(가) 표시된 사진&#10;&#10;AI 생성 콘텐츠는 정확하지 않을 수 있습니다.">
            <a:extLst>
              <a:ext uri="{FF2B5EF4-FFF2-40B4-BE49-F238E27FC236}">
                <a16:creationId xmlns:a16="http://schemas.microsoft.com/office/drawing/2014/main" id="{41B9FBF1-0E9D-BD07-35ED-38AF43441BE0}"/>
              </a:ext>
            </a:extLst>
          </p:cNvPr>
          <p:cNvPicPr>
            <a:picLocks noChangeAspect="1"/>
          </p:cNvPicPr>
          <p:nvPr/>
        </p:nvPicPr>
        <p:blipFill>
          <a:blip r:embed="rId3"/>
          <a:stretch>
            <a:fillRect/>
          </a:stretch>
        </p:blipFill>
        <p:spPr>
          <a:xfrm>
            <a:off x="10067656" y="1719802"/>
            <a:ext cx="1876425" cy="36628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728655" cy="1005840"/>
          </a:xfrm>
          <a:prstGeom prst="rect">
            <a:avLst/>
          </a:prstGeom>
          <a:noFill/>
        </p:spPr>
        <p:txBody>
          <a:bodyPr wrap="square" lIns="0" tIns="0" rIns="0" bIns="0">
            <a:spAutoFit/>
          </a:bodyPr>
          <a:lstStyle/>
          <a:p>
            <a:pPr algn="l">
              <a:spcAft>
                <a:spcPts val="400"/>
              </a:spcAft>
            </a:pPr>
            <a:r>
              <a:rPr sz="1100" b="1">
                <a:solidFill>
                  <a:srgbClr val="0284C7"/>
                </a:solidFill>
                <a:latin typeface="Arial"/>
              </a:rPr>
              <a:t>MATERIALS &amp; METHODS</a:t>
            </a:r>
          </a:p>
          <a:p>
            <a:pPr algn="l"/>
            <a:r>
              <a:rPr sz="2100" b="1">
                <a:solidFill>
                  <a:srgbClr val="0F172A"/>
                </a:solidFill>
                <a:latin typeface="Noto Sans CJK KR"/>
              </a:rPr>
              <a:t>4단계 엔지니어링으로 150개 도구, 105개 패키지, 59개 DB를 유기적으로 연동하다</a:t>
            </a:r>
          </a:p>
        </p:txBody>
      </p:sp>
      <p:sp>
        <p:nvSpPr>
          <p:cNvPr id="3" name="Rectangle 2"/>
          <p:cNvSpPr/>
          <p:nvPr/>
        </p:nvSpPr>
        <p:spPr>
          <a:xfrm>
            <a:off x="731520" y="1017342"/>
            <a:ext cx="10728655" cy="1905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91662"/>
            <a:ext cx="25146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291662"/>
            <a:ext cx="251460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l"/>
            <a:r>
              <a:rPr sz="950" b="1">
                <a:solidFill>
                  <a:srgbClr val="E0F2FE"/>
                </a:solidFill>
                <a:latin typeface="Arial"/>
              </a:rPr>
              <a:t>STEP 01 | 2,500편 논문 마이닝</a:t>
            </a:r>
          </a:p>
          <a:p>
            <a:pPr algn="l">
              <a:spcBef>
                <a:spcPts val="200"/>
              </a:spcBef>
            </a:pPr>
            <a:r>
              <a:rPr sz="1300" b="1">
                <a:solidFill>
                  <a:srgbClr val="FFFFFF"/>
                </a:solidFill>
                <a:latin typeface="Noto Sans CJK KR"/>
              </a:rPr>
              <a:t>Action Discovery
(액션 발굴)</a:t>
            </a:r>
          </a:p>
        </p:txBody>
      </p:sp>
      <p:sp>
        <p:nvSpPr>
          <p:cNvPr id="6" name="TextBox 5"/>
          <p:cNvSpPr txBox="1"/>
          <p:nvPr/>
        </p:nvSpPr>
        <p:spPr>
          <a:xfrm>
            <a:off x="868680" y="2434662"/>
            <a:ext cx="2240280" cy="2606041"/>
          </a:xfrm>
          <a:prstGeom prst="rect">
            <a:avLst/>
          </a:prstGeom>
          <a:noFill/>
        </p:spPr>
        <p:txBody>
          <a:bodyPr wrap="square" lIns="0" tIns="0" rIns="0" bIns="0">
            <a:spAutoFit/>
          </a:bodyPr>
          <a:lstStyle/>
          <a:p>
            <a:pPr algn="l">
              <a:spcBef>
                <a:spcPts val="600"/>
              </a:spcBef>
              <a:spcAft>
                <a:spcPts val="200"/>
              </a:spcAft>
            </a:pPr>
            <a:r>
              <a:rPr sz="1050">
                <a:solidFill>
                  <a:srgbClr val="0F172A"/>
                </a:solidFill>
                <a:latin typeface="Noto Sans CJK KR"/>
              </a:rPr>
              <a:t>• bioRxiv 25개 하위 분야 선정</a:t>
            </a:r>
          </a:p>
          <a:p>
            <a:pPr algn="l">
              <a:spcBef>
                <a:spcPts val="600"/>
              </a:spcBef>
              <a:spcAft>
                <a:spcPts val="200"/>
              </a:spcAft>
            </a:pPr>
            <a:r>
              <a:rPr sz="1050">
                <a:solidFill>
                  <a:srgbClr val="0F172A"/>
                </a:solidFill>
                <a:latin typeface="Noto Sans CJK KR"/>
              </a:rPr>
              <a:t>• 분야당 최신 논문 100편 수집 (총 2,500편)</a:t>
            </a:r>
          </a:p>
          <a:p>
            <a:pPr algn="l">
              <a:spcBef>
                <a:spcPts val="600"/>
              </a:spcBef>
              <a:spcAft>
                <a:spcPts val="200"/>
              </a:spcAft>
            </a:pPr>
            <a:r>
              <a:rPr sz="1050">
                <a:solidFill>
                  <a:srgbClr val="0F172A"/>
                </a:solidFill>
                <a:latin typeface="Noto Sans CJK KR"/>
              </a:rPr>
              <a:t>• LLM 기반 액션 발굴 에이전트가 연구 재현에 필요한 도구·DB·SW 추출</a:t>
            </a:r>
          </a:p>
          <a:p>
            <a:pPr algn="l">
              <a:spcBef>
                <a:spcPts val="600"/>
              </a:spcBef>
              <a:spcAft>
                <a:spcPts val="200"/>
              </a:spcAft>
            </a:pPr>
            <a:r>
              <a:rPr sz="1050">
                <a:solidFill>
                  <a:srgbClr val="0F172A"/>
                </a:solidFill>
                <a:latin typeface="Noto Sans CJK KR"/>
              </a:rPr>
              <a:t>• 전문가 검증 및 재현 테스트 통과 항목 선별</a:t>
            </a:r>
          </a:p>
        </p:txBody>
      </p:sp>
      <p:sp>
        <p:nvSpPr>
          <p:cNvPr id="7" name="Rounded Rectangle 6"/>
          <p:cNvSpPr/>
          <p:nvPr/>
        </p:nvSpPr>
        <p:spPr>
          <a:xfrm>
            <a:off x="841248" y="3970164"/>
            <a:ext cx="2295144" cy="43891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D9488"/>
                </a:solidFill>
                <a:latin typeface="Noto Sans CJK KR"/>
              </a:rPr>
              <a:t>✓ 방대한 문헌 기반 액션 공간 정립</a:t>
            </a:r>
          </a:p>
        </p:txBody>
      </p:sp>
      <p:sp>
        <p:nvSpPr>
          <p:cNvPr id="8" name="Rectangle 7"/>
          <p:cNvSpPr/>
          <p:nvPr/>
        </p:nvSpPr>
        <p:spPr>
          <a:xfrm>
            <a:off x="3465576" y="1291662"/>
            <a:ext cx="25146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465576" y="1291662"/>
            <a:ext cx="2514600" cy="105156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l"/>
            <a:r>
              <a:rPr sz="950" b="1">
                <a:solidFill>
                  <a:srgbClr val="E0F2FE"/>
                </a:solidFill>
                <a:latin typeface="Arial"/>
              </a:rPr>
              <a:t>STEP 02 | 통합 바이오 생태계</a:t>
            </a:r>
          </a:p>
          <a:p>
            <a:pPr algn="l">
              <a:spcBef>
                <a:spcPts val="200"/>
              </a:spcBef>
            </a:pPr>
            <a:r>
              <a:rPr sz="1300" b="1">
                <a:solidFill>
                  <a:srgbClr val="FFFFFF"/>
                </a:solidFill>
                <a:latin typeface="Noto Sans CJK KR"/>
              </a:rPr>
              <a:t>Biomni-E1
(실행 환경 구축)</a:t>
            </a:r>
          </a:p>
        </p:txBody>
      </p:sp>
      <p:sp>
        <p:nvSpPr>
          <p:cNvPr id="10" name="TextBox 9"/>
          <p:cNvSpPr txBox="1"/>
          <p:nvPr/>
        </p:nvSpPr>
        <p:spPr>
          <a:xfrm>
            <a:off x="3602736" y="2434662"/>
            <a:ext cx="2240280" cy="2606041"/>
          </a:xfrm>
          <a:prstGeom prst="rect">
            <a:avLst/>
          </a:prstGeom>
          <a:noFill/>
        </p:spPr>
        <p:txBody>
          <a:bodyPr wrap="square" lIns="0" tIns="0" rIns="0" bIns="0">
            <a:spAutoFit/>
          </a:bodyPr>
          <a:lstStyle/>
          <a:p>
            <a:pPr algn="l">
              <a:spcBef>
                <a:spcPts val="600"/>
              </a:spcBef>
              <a:spcAft>
                <a:spcPts val="200"/>
              </a:spcAft>
            </a:pPr>
            <a:r>
              <a:rPr sz="1050">
                <a:solidFill>
                  <a:srgbClr val="0F172A"/>
                </a:solidFill>
                <a:latin typeface="Noto Sans CJK KR"/>
              </a:rPr>
              <a:t>• 150개 특화 도구: AlphaFold-2, DiffDock, ThermoMPNN 등 AI/알고리즘</a:t>
            </a:r>
          </a:p>
          <a:p>
            <a:pPr algn="l">
              <a:spcBef>
                <a:spcPts val="600"/>
              </a:spcBef>
              <a:spcAft>
                <a:spcPts val="200"/>
              </a:spcAft>
            </a:pPr>
            <a:r>
              <a:rPr sz="1050">
                <a:solidFill>
                  <a:srgbClr val="0F172A"/>
                </a:solidFill>
                <a:latin typeface="Noto Sans CJK KR"/>
              </a:rPr>
              <a:t>• 105개 소프트웨어: Biopython, R, CLI 파이프라인 사전 설치</a:t>
            </a:r>
          </a:p>
          <a:p>
            <a:pPr algn="l">
              <a:spcBef>
                <a:spcPts val="600"/>
              </a:spcBef>
              <a:spcAft>
                <a:spcPts val="200"/>
              </a:spcAft>
            </a:pPr>
            <a:r>
              <a:rPr sz="1050">
                <a:solidFill>
                  <a:srgbClr val="0F172A"/>
                </a:solidFill>
                <a:latin typeface="Noto Sans CJK KR"/>
              </a:rPr>
              <a:t>• 59개 데이터베이스: PDB, BindingDB, Open Targets 등 자연어 쿼리 인터페이스 연동</a:t>
            </a:r>
          </a:p>
        </p:txBody>
      </p:sp>
      <p:sp>
        <p:nvSpPr>
          <p:cNvPr id="11" name="Rounded Rectangle 10"/>
          <p:cNvSpPr/>
          <p:nvPr/>
        </p:nvSpPr>
        <p:spPr>
          <a:xfrm>
            <a:off x="3575304" y="3970164"/>
            <a:ext cx="2295144" cy="43891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D9488"/>
                </a:solidFill>
                <a:latin typeface="Noto Sans CJK KR"/>
              </a:rPr>
              <a:t>✓ 단일 실행 컨테이너 환경 완성</a:t>
            </a:r>
          </a:p>
        </p:txBody>
      </p:sp>
      <p:sp>
        <p:nvSpPr>
          <p:cNvPr id="12" name="Rectangle 11"/>
          <p:cNvSpPr/>
          <p:nvPr/>
        </p:nvSpPr>
        <p:spPr>
          <a:xfrm>
            <a:off x="6199632" y="1291662"/>
            <a:ext cx="25146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9632" y="1291662"/>
            <a:ext cx="251460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l"/>
            <a:r>
              <a:rPr sz="950" b="1">
                <a:solidFill>
                  <a:srgbClr val="E0F2FE"/>
                </a:solidFill>
                <a:latin typeface="Arial"/>
              </a:rPr>
              <a:t>STEP 03 | 코드 기반 자율 추론</a:t>
            </a:r>
          </a:p>
          <a:p>
            <a:pPr algn="l">
              <a:spcBef>
                <a:spcPts val="200"/>
              </a:spcBef>
            </a:pPr>
            <a:r>
              <a:rPr sz="1300" b="1">
                <a:solidFill>
                  <a:srgbClr val="FFFFFF"/>
                </a:solidFill>
                <a:latin typeface="Noto Sans CJK KR"/>
              </a:rPr>
              <a:t>Biomni-A1
(에이전트 아키텍처)</a:t>
            </a:r>
          </a:p>
        </p:txBody>
      </p:sp>
      <p:sp>
        <p:nvSpPr>
          <p:cNvPr id="14" name="TextBox 13"/>
          <p:cNvSpPr txBox="1"/>
          <p:nvPr/>
        </p:nvSpPr>
        <p:spPr>
          <a:xfrm>
            <a:off x="6336792" y="2434662"/>
            <a:ext cx="2240280" cy="2606041"/>
          </a:xfrm>
          <a:prstGeom prst="rect">
            <a:avLst/>
          </a:prstGeom>
          <a:noFill/>
        </p:spPr>
        <p:txBody>
          <a:bodyPr wrap="square" lIns="0" tIns="0" rIns="0" bIns="0">
            <a:spAutoFit/>
          </a:bodyPr>
          <a:lstStyle/>
          <a:p>
            <a:pPr algn="l">
              <a:spcBef>
                <a:spcPts val="600"/>
              </a:spcBef>
              <a:spcAft>
                <a:spcPts val="200"/>
              </a:spcAft>
            </a:pPr>
            <a:r>
              <a:rPr sz="1050">
                <a:solidFill>
                  <a:srgbClr val="0F172A"/>
                </a:solidFill>
                <a:latin typeface="Noto Sans CJK KR"/>
              </a:rPr>
              <a:t>• 동적 자원 검색: 질의에 맞는 최적 도구/DB 서브셋 즉각 검색</a:t>
            </a:r>
          </a:p>
          <a:p>
            <a:pPr algn="l">
              <a:spcBef>
                <a:spcPts val="600"/>
              </a:spcBef>
              <a:spcAft>
                <a:spcPts val="200"/>
              </a:spcAft>
            </a:pPr>
            <a:r>
              <a:rPr sz="1050">
                <a:solidFill>
                  <a:srgbClr val="0F172A"/>
                </a:solidFill>
                <a:latin typeface="Noto Sans CJK KR"/>
              </a:rPr>
              <a:t>• Code as Action: 정형화된 API 대신 유연한 Python/R 코드 자율 작성</a:t>
            </a:r>
          </a:p>
          <a:p>
            <a:pPr algn="l">
              <a:spcBef>
                <a:spcPts val="600"/>
              </a:spcBef>
              <a:spcAft>
                <a:spcPts val="200"/>
              </a:spcAft>
            </a:pPr>
            <a:r>
              <a:rPr sz="1050">
                <a:solidFill>
                  <a:srgbClr val="0F172A"/>
                </a:solidFill>
                <a:latin typeface="Noto Sans CJK KR"/>
              </a:rPr>
              <a:t>• Adaptive Planning: 실행 결과 관찰 및 에러 자율 디버깅</a:t>
            </a:r>
          </a:p>
        </p:txBody>
      </p:sp>
      <p:sp>
        <p:nvSpPr>
          <p:cNvPr id="15" name="Rounded Rectangle 14"/>
          <p:cNvSpPr/>
          <p:nvPr/>
        </p:nvSpPr>
        <p:spPr>
          <a:xfrm>
            <a:off x="6309360" y="3970164"/>
            <a:ext cx="2295144" cy="43891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D9488"/>
                </a:solidFill>
                <a:latin typeface="Noto Sans CJK KR"/>
              </a:rPr>
              <a:t>✓ 고정 템플릿 탈피, 동적 계획 수립</a:t>
            </a:r>
          </a:p>
        </p:txBody>
      </p:sp>
      <p:sp>
        <p:nvSpPr>
          <p:cNvPr id="16" name="Rectangle 15"/>
          <p:cNvSpPr/>
          <p:nvPr/>
        </p:nvSpPr>
        <p:spPr>
          <a:xfrm>
            <a:off x="8933688" y="1291662"/>
            <a:ext cx="25146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933688" y="1291662"/>
            <a:ext cx="2514600" cy="105156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l"/>
            <a:r>
              <a:rPr sz="950" b="1">
                <a:solidFill>
                  <a:srgbClr val="E0F2FE"/>
                </a:solidFill>
                <a:latin typeface="Arial"/>
              </a:rPr>
              <a:t>STEP 04 | 도메인 특화 성능 극대화</a:t>
            </a:r>
          </a:p>
          <a:p>
            <a:pPr algn="l">
              <a:spcBef>
                <a:spcPts val="200"/>
              </a:spcBef>
            </a:pPr>
            <a:r>
              <a:rPr sz="1300" b="1">
                <a:solidFill>
                  <a:srgbClr val="FFFFFF"/>
                </a:solidFill>
                <a:latin typeface="Noto Sans CJK KR"/>
              </a:rPr>
              <a:t>Biomni-R0
(강화학습 최적화)</a:t>
            </a:r>
          </a:p>
        </p:txBody>
      </p:sp>
      <p:sp>
        <p:nvSpPr>
          <p:cNvPr id="18" name="TextBox 17"/>
          <p:cNvSpPr txBox="1"/>
          <p:nvPr/>
        </p:nvSpPr>
        <p:spPr>
          <a:xfrm>
            <a:off x="9070848" y="2434662"/>
            <a:ext cx="2240280" cy="2606041"/>
          </a:xfrm>
          <a:prstGeom prst="rect">
            <a:avLst/>
          </a:prstGeom>
          <a:noFill/>
        </p:spPr>
        <p:txBody>
          <a:bodyPr wrap="square" lIns="0" tIns="0" rIns="0" bIns="0">
            <a:spAutoFit/>
          </a:bodyPr>
          <a:lstStyle/>
          <a:p>
            <a:pPr algn="l">
              <a:spcBef>
                <a:spcPts val="600"/>
              </a:spcBef>
              <a:spcAft>
                <a:spcPts val="200"/>
              </a:spcAft>
            </a:pPr>
            <a:r>
              <a:rPr sz="1050">
                <a:solidFill>
                  <a:srgbClr val="0F172A"/>
                </a:solidFill>
                <a:latin typeface="Noto Sans CJK KR"/>
              </a:rPr>
              <a:t>• 프론티어 모델(Claude Sonnet 4) 지식을 오픈소스(Qwen3)로 지식 증류</a:t>
            </a:r>
          </a:p>
          <a:p>
            <a:pPr algn="l">
              <a:spcBef>
                <a:spcPts val="600"/>
              </a:spcBef>
              <a:spcAft>
                <a:spcPts val="200"/>
              </a:spcAft>
            </a:pPr>
            <a:r>
              <a:rPr sz="1050">
                <a:solidFill>
                  <a:srgbClr val="0F172A"/>
                </a:solidFill>
                <a:latin typeface="Noto Sans CJK KR"/>
              </a:rPr>
              <a:t>• Biomni-E1 환경 상호작용 기반 강화학습(GRPO) 적용</a:t>
            </a:r>
          </a:p>
          <a:p>
            <a:pPr algn="l">
              <a:spcBef>
                <a:spcPts val="600"/>
              </a:spcBef>
              <a:spcAft>
                <a:spcPts val="200"/>
              </a:spcAft>
            </a:pPr>
            <a:r>
              <a:rPr sz="1050">
                <a:solidFill>
                  <a:srgbClr val="0F172A"/>
                </a:solidFill>
                <a:latin typeface="Noto Sans CJK KR"/>
              </a:rPr>
              <a:t>• 전문가 검증 보상 신호로 복잡 생물학 과업 성공률 대폭 향상</a:t>
            </a:r>
          </a:p>
        </p:txBody>
      </p:sp>
      <p:sp>
        <p:nvSpPr>
          <p:cNvPr id="19" name="Rounded Rectangle 18"/>
          <p:cNvSpPr/>
          <p:nvPr/>
        </p:nvSpPr>
        <p:spPr>
          <a:xfrm>
            <a:off x="9043416" y="3970164"/>
            <a:ext cx="2295144" cy="43891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D9488"/>
                </a:solidFill>
                <a:latin typeface="Noto Sans CJK KR"/>
              </a:rPr>
              <a:t>✓ 오픈소스 경량 에이전트 성능 강화</a:t>
            </a:r>
          </a:p>
        </p:txBody>
      </p:sp>
      <p:pic>
        <p:nvPicPr>
          <p:cNvPr id="20" name="그림 19" descr="텍스트, 스크린샷, 도표, 폰트이(가) 표시된 사진&#10;&#10;AI 생성 콘텐츠는 정확하지 않을 수 있습니다.">
            <a:extLst>
              <a:ext uri="{FF2B5EF4-FFF2-40B4-BE49-F238E27FC236}">
                <a16:creationId xmlns:a16="http://schemas.microsoft.com/office/drawing/2014/main" id="{34BFA6A0-93C1-3F68-A884-88AF5FFDE152}"/>
              </a:ext>
            </a:extLst>
          </p:cNvPr>
          <p:cNvPicPr>
            <a:picLocks noChangeAspect="1"/>
          </p:cNvPicPr>
          <p:nvPr/>
        </p:nvPicPr>
        <p:blipFill>
          <a:blip r:embed="rId3"/>
          <a:srcRect t="8547" r="-842" b="427"/>
          <a:stretch>
            <a:fillRect/>
          </a:stretch>
        </p:blipFill>
        <p:spPr>
          <a:xfrm>
            <a:off x="5484705" y="4422026"/>
            <a:ext cx="3906558" cy="2442354"/>
          </a:xfrm>
          <a:prstGeom prst="rect">
            <a:avLst/>
          </a:prstGeom>
        </p:spPr>
      </p:pic>
      <p:pic>
        <p:nvPicPr>
          <p:cNvPr id="21" name="그림 20" descr="텍스트, 스크린샷, 폰트, 번호이(가) 표시된 사진&#10;&#10;AI 생성 콘텐츠는 정확하지 않을 수 있습니다.">
            <a:extLst>
              <a:ext uri="{FF2B5EF4-FFF2-40B4-BE49-F238E27FC236}">
                <a16:creationId xmlns:a16="http://schemas.microsoft.com/office/drawing/2014/main" id="{D4C42A09-9D9D-1907-74F8-142DD2369F93}"/>
              </a:ext>
            </a:extLst>
          </p:cNvPr>
          <p:cNvPicPr>
            <a:picLocks noChangeAspect="1"/>
          </p:cNvPicPr>
          <p:nvPr/>
        </p:nvPicPr>
        <p:blipFill>
          <a:blip r:embed="rId4"/>
          <a:stretch>
            <a:fillRect/>
          </a:stretch>
        </p:blipFill>
        <p:spPr>
          <a:xfrm>
            <a:off x="10021211" y="4415646"/>
            <a:ext cx="2197220" cy="23111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7F5DE00D-D5F1-47E3-BC00-C1D2BE0CD6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F7731F-ED39-9864-B2B4-84246377F6C7}"/>
              </a:ext>
            </a:extLst>
          </p:cNvPr>
          <p:cNvSpPr txBox="1"/>
          <p:nvPr/>
        </p:nvSpPr>
        <p:spPr>
          <a:xfrm>
            <a:off x="731520" y="411480"/>
            <a:ext cx="10728655" cy="1005840"/>
          </a:xfrm>
          <a:prstGeom prst="rect">
            <a:avLst/>
          </a:prstGeom>
          <a:noFill/>
        </p:spPr>
        <p:txBody>
          <a:bodyPr wrap="square" lIns="0" tIns="0" rIns="0" bIns="0">
            <a:spAutoFit/>
          </a:bodyPr>
          <a:lstStyle/>
          <a:p>
            <a:pPr algn="l">
              <a:spcAft>
                <a:spcPts val="400"/>
              </a:spcAft>
            </a:pPr>
            <a:r>
              <a:rPr sz="1100" b="1">
                <a:solidFill>
                  <a:srgbClr val="0284C7"/>
                </a:solidFill>
                <a:latin typeface="Arial"/>
              </a:rPr>
              <a:t>MATERIALS &amp; METHODS</a:t>
            </a:r>
          </a:p>
          <a:p>
            <a:pPr algn="l"/>
            <a:r>
              <a:rPr sz="2100" b="1">
                <a:solidFill>
                  <a:srgbClr val="0F172A"/>
                </a:solidFill>
                <a:latin typeface="Noto Sans CJK KR"/>
              </a:rPr>
              <a:t>4단계 엔지니어링으로 150개 도구, 105개 패키지, 59개 DB를 유기적으로 연동하다</a:t>
            </a:r>
          </a:p>
        </p:txBody>
      </p:sp>
      <p:sp>
        <p:nvSpPr>
          <p:cNvPr id="3" name="Rectangle 2">
            <a:extLst>
              <a:ext uri="{FF2B5EF4-FFF2-40B4-BE49-F238E27FC236}">
                <a16:creationId xmlns:a16="http://schemas.microsoft.com/office/drawing/2014/main" id="{7FFA35B3-B942-545A-4EFC-451B375BC428}"/>
              </a:ext>
            </a:extLst>
          </p:cNvPr>
          <p:cNvSpPr/>
          <p:nvPr/>
        </p:nvSpPr>
        <p:spPr>
          <a:xfrm>
            <a:off x="731520" y="1017342"/>
            <a:ext cx="10728655" cy="1905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8266E11-8DDB-547B-B70C-7123EFE40E58}"/>
              </a:ext>
            </a:extLst>
          </p:cNvPr>
          <p:cNvSpPr/>
          <p:nvPr/>
        </p:nvSpPr>
        <p:spPr>
          <a:xfrm>
            <a:off x="731520" y="1291662"/>
            <a:ext cx="25146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355D865F-BF1F-8D2F-6C99-EBAF8D95C2AB}"/>
              </a:ext>
            </a:extLst>
          </p:cNvPr>
          <p:cNvSpPr/>
          <p:nvPr/>
        </p:nvSpPr>
        <p:spPr>
          <a:xfrm>
            <a:off x="731520" y="1291662"/>
            <a:ext cx="251460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l"/>
            <a:r>
              <a:rPr sz="950" b="1">
                <a:solidFill>
                  <a:srgbClr val="E0F2FE"/>
                </a:solidFill>
                <a:latin typeface="Arial"/>
              </a:rPr>
              <a:t>STEP 01 | 2,500편 논문 마이닝</a:t>
            </a:r>
          </a:p>
          <a:p>
            <a:pPr algn="l">
              <a:spcBef>
                <a:spcPts val="200"/>
              </a:spcBef>
            </a:pPr>
            <a:r>
              <a:rPr sz="1300" b="1">
                <a:solidFill>
                  <a:srgbClr val="FFFFFF"/>
                </a:solidFill>
                <a:latin typeface="Noto Sans CJK KR"/>
              </a:rPr>
              <a:t>Action Discovery
(액션 발굴)</a:t>
            </a:r>
          </a:p>
        </p:txBody>
      </p:sp>
      <p:sp>
        <p:nvSpPr>
          <p:cNvPr id="6" name="TextBox 5">
            <a:extLst>
              <a:ext uri="{FF2B5EF4-FFF2-40B4-BE49-F238E27FC236}">
                <a16:creationId xmlns:a16="http://schemas.microsoft.com/office/drawing/2014/main" id="{5E5C6F36-D1D8-20F4-400D-2FCB704FD9B7}"/>
              </a:ext>
            </a:extLst>
          </p:cNvPr>
          <p:cNvSpPr txBox="1"/>
          <p:nvPr/>
        </p:nvSpPr>
        <p:spPr>
          <a:xfrm>
            <a:off x="868680" y="2434662"/>
            <a:ext cx="2240280" cy="2606041"/>
          </a:xfrm>
          <a:prstGeom prst="rect">
            <a:avLst/>
          </a:prstGeom>
          <a:noFill/>
        </p:spPr>
        <p:txBody>
          <a:bodyPr wrap="square" lIns="0" tIns="0" rIns="0" bIns="0">
            <a:spAutoFit/>
          </a:bodyPr>
          <a:lstStyle/>
          <a:p>
            <a:pPr algn="l">
              <a:spcBef>
                <a:spcPts val="600"/>
              </a:spcBef>
              <a:spcAft>
                <a:spcPts val="200"/>
              </a:spcAft>
            </a:pPr>
            <a:r>
              <a:rPr sz="1050">
                <a:solidFill>
                  <a:srgbClr val="0F172A"/>
                </a:solidFill>
                <a:latin typeface="Noto Sans CJK KR"/>
              </a:rPr>
              <a:t>• bioRxiv 25개 하위 분야 선정</a:t>
            </a:r>
          </a:p>
          <a:p>
            <a:pPr algn="l">
              <a:spcBef>
                <a:spcPts val="600"/>
              </a:spcBef>
              <a:spcAft>
                <a:spcPts val="200"/>
              </a:spcAft>
            </a:pPr>
            <a:r>
              <a:rPr sz="1050">
                <a:solidFill>
                  <a:srgbClr val="0F172A"/>
                </a:solidFill>
                <a:latin typeface="Noto Sans CJK KR"/>
              </a:rPr>
              <a:t>• 분야당 최신 논문 100편 수집 (총 2,500편)</a:t>
            </a:r>
          </a:p>
          <a:p>
            <a:pPr algn="l">
              <a:spcBef>
                <a:spcPts val="600"/>
              </a:spcBef>
              <a:spcAft>
                <a:spcPts val="200"/>
              </a:spcAft>
            </a:pPr>
            <a:r>
              <a:rPr sz="1050">
                <a:solidFill>
                  <a:srgbClr val="0F172A"/>
                </a:solidFill>
                <a:latin typeface="Noto Sans CJK KR"/>
              </a:rPr>
              <a:t>• LLM 기반 액션 발굴 에이전트가 연구 재현에 필요한 도구·DB·SW 추출</a:t>
            </a:r>
          </a:p>
          <a:p>
            <a:pPr algn="l">
              <a:spcBef>
                <a:spcPts val="600"/>
              </a:spcBef>
              <a:spcAft>
                <a:spcPts val="200"/>
              </a:spcAft>
            </a:pPr>
            <a:r>
              <a:rPr sz="1050">
                <a:solidFill>
                  <a:srgbClr val="0F172A"/>
                </a:solidFill>
                <a:latin typeface="Noto Sans CJK KR"/>
              </a:rPr>
              <a:t>• 전문가 검증 및 재현 테스트 통과 항목 선별</a:t>
            </a:r>
          </a:p>
        </p:txBody>
      </p:sp>
      <p:sp>
        <p:nvSpPr>
          <p:cNvPr id="7" name="Rounded Rectangle 6">
            <a:extLst>
              <a:ext uri="{FF2B5EF4-FFF2-40B4-BE49-F238E27FC236}">
                <a16:creationId xmlns:a16="http://schemas.microsoft.com/office/drawing/2014/main" id="{B6D620D9-4071-F869-4251-968EE838C12B}"/>
              </a:ext>
            </a:extLst>
          </p:cNvPr>
          <p:cNvSpPr/>
          <p:nvPr/>
        </p:nvSpPr>
        <p:spPr>
          <a:xfrm>
            <a:off x="841248" y="3970164"/>
            <a:ext cx="2295144" cy="43891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D9488"/>
                </a:solidFill>
                <a:latin typeface="Noto Sans CJK KR"/>
              </a:rPr>
              <a:t>✓ 방대한 문헌 기반 액션 공간 정립</a:t>
            </a:r>
          </a:p>
        </p:txBody>
      </p:sp>
      <p:sp>
        <p:nvSpPr>
          <p:cNvPr id="8" name="Rectangle 7">
            <a:extLst>
              <a:ext uri="{FF2B5EF4-FFF2-40B4-BE49-F238E27FC236}">
                <a16:creationId xmlns:a16="http://schemas.microsoft.com/office/drawing/2014/main" id="{32E32848-DB13-1278-1F2D-73C495C3787D}"/>
              </a:ext>
            </a:extLst>
          </p:cNvPr>
          <p:cNvSpPr/>
          <p:nvPr/>
        </p:nvSpPr>
        <p:spPr>
          <a:xfrm>
            <a:off x="3465576" y="1291662"/>
            <a:ext cx="25146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DF4C0A2C-9377-2D2B-93B5-7F4411334054}"/>
              </a:ext>
            </a:extLst>
          </p:cNvPr>
          <p:cNvSpPr/>
          <p:nvPr/>
        </p:nvSpPr>
        <p:spPr>
          <a:xfrm>
            <a:off x="3465576" y="1291662"/>
            <a:ext cx="2514600" cy="105156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l"/>
            <a:r>
              <a:rPr sz="950" b="1">
                <a:solidFill>
                  <a:srgbClr val="E0F2FE"/>
                </a:solidFill>
                <a:latin typeface="Arial"/>
              </a:rPr>
              <a:t>STEP 02 | 통합 바이오 생태계</a:t>
            </a:r>
          </a:p>
          <a:p>
            <a:pPr algn="l">
              <a:spcBef>
                <a:spcPts val="200"/>
              </a:spcBef>
            </a:pPr>
            <a:r>
              <a:rPr sz="1300" b="1">
                <a:solidFill>
                  <a:srgbClr val="FFFFFF"/>
                </a:solidFill>
                <a:latin typeface="Noto Sans CJK KR"/>
              </a:rPr>
              <a:t>Biomni-E1
(실행 환경 구축)</a:t>
            </a:r>
          </a:p>
        </p:txBody>
      </p:sp>
      <p:sp>
        <p:nvSpPr>
          <p:cNvPr id="10" name="TextBox 9">
            <a:extLst>
              <a:ext uri="{FF2B5EF4-FFF2-40B4-BE49-F238E27FC236}">
                <a16:creationId xmlns:a16="http://schemas.microsoft.com/office/drawing/2014/main" id="{18AAF66D-2229-B2D0-DBA8-6D3F0CF6CCDB}"/>
              </a:ext>
            </a:extLst>
          </p:cNvPr>
          <p:cNvSpPr txBox="1"/>
          <p:nvPr/>
        </p:nvSpPr>
        <p:spPr>
          <a:xfrm>
            <a:off x="3602736" y="2434662"/>
            <a:ext cx="2240280" cy="2606041"/>
          </a:xfrm>
          <a:prstGeom prst="rect">
            <a:avLst/>
          </a:prstGeom>
          <a:noFill/>
        </p:spPr>
        <p:txBody>
          <a:bodyPr wrap="square" lIns="0" tIns="0" rIns="0" bIns="0">
            <a:spAutoFit/>
          </a:bodyPr>
          <a:lstStyle/>
          <a:p>
            <a:pPr algn="l">
              <a:spcBef>
                <a:spcPts val="600"/>
              </a:spcBef>
              <a:spcAft>
                <a:spcPts val="200"/>
              </a:spcAft>
            </a:pPr>
            <a:r>
              <a:rPr sz="1050">
                <a:solidFill>
                  <a:srgbClr val="0F172A"/>
                </a:solidFill>
                <a:latin typeface="Noto Sans CJK KR"/>
              </a:rPr>
              <a:t>• 150개 특화 도구: AlphaFold-2, DiffDock, ThermoMPNN 등 AI/알고리즘</a:t>
            </a:r>
          </a:p>
          <a:p>
            <a:pPr algn="l">
              <a:spcBef>
                <a:spcPts val="600"/>
              </a:spcBef>
              <a:spcAft>
                <a:spcPts val="200"/>
              </a:spcAft>
            </a:pPr>
            <a:r>
              <a:rPr sz="1050">
                <a:solidFill>
                  <a:srgbClr val="0F172A"/>
                </a:solidFill>
                <a:latin typeface="Noto Sans CJK KR"/>
              </a:rPr>
              <a:t>• 105개 소프트웨어: Biopython, R, CLI 파이프라인 사전 설치</a:t>
            </a:r>
          </a:p>
          <a:p>
            <a:pPr algn="l">
              <a:spcBef>
                <a:spcPts val="600"/>
              </a:spcBef>
              <a:spcAft>
                <a:spcPts val="200"/>
              </a:spcAft>
            </a:pPr>
            <a:r>
              <a:rPr sz="1050">
                <a:solidFill>
                  <a:srgbClr val="0F172A"/>
                </a:solidFill>
                <a:latin typeface="Noto Sans CJK KR"/>
              </a:rPr>
              <a:t>• 59개 데이터베이스: PDB, BindingDB, Open Targets 등 자연어 쿼리 인터페이스 연동</a:t>
            </a:r>
          </a:p>
        </p:txBody>
      </p:sp>
      <p:sp>
        <p:nvSpPr>
          <p:cNvPr id="11" name="Rounded Rectangle 10">
            <a:extLst>
              <a:ext uri="{FF2B5EF4-FFF2-40B4-BE49-F238E27FC236}">
                <a16:creationId xmlns:a16="http://schemas.microsoft.com/office/drawing/2014/main" id="{7D28551F-B56A-E5F7-DDE2-A69AC22AD6E9}"/>
              </a:ext>
            </a:extLst>
          </p:cNvPr>
          <p:cNvSpPr/>
          <p:nvPr/>
        </p:nvSpPr>
        <p:spPr>
          <a:xfrm>
            <a:off x="3575304" y="3970164"/>
            <a:ext cx="2295144" cy="43891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D9488"/>
                </a:solidFill>
                <a:latin typeface="Noto Sans CJK KR"/>
              </a:rPr>
              <a:t>✓ 단일 실행 컨테이너 환경 완성</a:t>
            </a:r>
          </a:p>
        </p:txBody>
      </p:sp>
      <p:sp>
        <p:nvSpPr>
          <p:cNvPr id="12" name="Rectangle 11">
            <a:extLst>
              <a:ext uri="{FF2B5EF4-FFF2-40B4-BE49-F238E27FC236}">
                <a16:creationId xmlns:a16="http://schemas.microsoft.com/office/drawing/2014/main" id="{86B06434-F5E0-417A-E61F-7324738AD3ED}"/>
              </a:ext>
            </a:extLst>
          </p:cNvPr>
          <p:cNvSpPr/>
          <p:nvPr/>
        </p:nvSpPr>
        <p:spPr>
          <a:xfrm>
            <a:off x="6199632" y="1291662"/>
            <a:ext cx="25146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F8C79A7A-4FBD-FD73-6735-AC3CA814255F}"/>
              </a:ext>
            </a:extLst>
          </p:cNvPr>
          <p:cNvSpPr/>
          <p:nvPr/>
        </p:nvSpPr>
        <p:spPr>
          <a:xfrm>
            <a:off x="6199632" y="1291662"/>
            <a:ext cx="251460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l"/>
            <a:r>
              <a:rPr sz="950" b="1">
                <a:solidFill>
                  <a:srgbClr val="E0F2FE"/>
                </a:solidFill>
                <a:latin typeface="Arial"/>
              </a:rPr>
              <a:t>STEP 03 | 코드 기반 자율 추론</a:t>
            </a:r>
          </a:p>
          <a:p>
            <a:pPr algn="l">
              <a:spcBef>
                <a:spcPts val="200"/>
              </a:spcBef>
            </a:pPr>
            <a:r>
              <a:rPr sz="1300" b="1">
                <a:solidFill>
                  <a:srgbClr val="FFFFFF"/>
                </a:solidFill>
                <a:latin typeface="Noto Sans CJK KR"/>
              </a:rPr>
              <a:t>Biomni-A1
(에이전트 아키텍처)</a:t>
            </a:r>
          </a:p>
        </p:txBody>
      </p:sp>
      <p:sp>
        <p:nvSpPr>
          <p:cNvPr id="14" name="TextBox 13">
            <a:extLst>
              <a:ext uri="{FF2B5EF4-FFF2-40B4-BE49-F238E27FC236}">
                <a16:creationId xmlns:a16="http://schemas.microsoft.com/office/drawing/2014/main" id="{89316FBD-7B1E-23C5-F663-D9C15B57DBF5}"/>
              </a:ext>
            </a:extLst>
          </p:cNvPr>
          <p:cNvSpPr txBox="1"/>
          <p:nvPr/>
        </p:nvSpPr>
        <p:spPr>
          <a:xfrm>
            <a:off x="6336792" y="2434662"/>
            <a:ext cx="2240280" cy="2606041"/>
          </a:xfrm>
          <a:prstGeom prst="rect">
            <a:avLst/>
          </a:prstGeom>
          <a:noFill/>
        </p:spPr>
        <p:txBody>
          <a:bodyPr wrap="square" lIns="0" tIns="0" rIns="0" bIns="0">
            <a:spAutoFit/>
          </a:bodyPr>
          <a:lstStyle/>
          <a:p>
            <a:pPr algn="l">
              <a:spcBef>
                <a:spcPts val="600"/>
              </a:spcBef>
              <a:spcAft>
                <a:spcPts val="200"/>
              </a:spcAft>
            </a:pPr>
            <a:r>
              <a:rPr sz="1050">
                <a:solidFill>
                  <a:srgbClr val="0F172A"/>
                </a:solidFill>
                <a:latin typeface="Noto Sans CJK KR"/>
              </a:rPr>
              <a:t>• 동적 자원 검색: 질의에 맞는 최적 도구/DB 서브셋 즉각 검색</a:t>
            </a:r>
          </a:p>
          <a:p>
            <a:pPr algn="l">
              <a:spcBef>
                <a:spcPts val="600"/>
              </a:spcBef>
              <a:spcAft>
                <a:spcPts val="200"/>
              </a:spcAft>
            </a:pPr>
            <a:r>
              <a:rPr sz="1050">
                <a:solidFill>
                  <a:srgbClr val="0F172A"/>
                </a:solidFill>
                <a:latin typeface="Noto Sans CJK KR"/>
              </a:rPr>
              <a:t>• Code as Action: 정형화된 API 대신 유연한 Python/R 코드 자율 작성</a:t>
            </a:r>
          </a:p>
          <a:p>
            <a:pPr algn="l">
              <a:spcBef>
                <a:spcPts val="600"/>
              </a:spcBef>
              <a:spcAft>
                <a:spcPts val="200"/>
              </a:spcAft>
            </a:pPr>
            <a:r>
              <a:rPr sz="1050">
                <a:solidFill>
                  <a:srgbClr val="0F172A"/>
                </a:solidFill>
                <a:latin typeface="Noto Sans CJK KR"/>
              </a:rPr>
              <a:t>• Adaptive Planning: 실행 결과 관찰 및 에러 자율 디버깅</a:t>
            </a:r>
          </a:p>
        </p:txBody>
      </p:sp>
      <p:sp>
        <p:nvSpPr>
          <p:cNvPr id="15" name="Rounded Rectangle 14">
            <a:extLst>
              <a:ext uri="{FF2B5EF4-FFF2-40B4-BE49-F238E27FC236}">
                <a16:creationId xmlns:a16="http://schemas.microsoft.com/office/drawing/2014/main" id="{DAC8CFA4-7417-A249-4A50-7B89BB30EEF5}"/>
              </a:ext>
            </a:extLst>
          </p:cNvPr>
          <p:cNvSpPr/>
          <p:nvPr/>
        </p:nvSpPr>
        <p:spPr>
          <a:xfrm>
            <a:off x="6309360" y="3970164"/>
            <a:ext cx="2295144" cy="43891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D9488"/>
                </a:solidFill>
                <a:latin typeface="Noto Sans CJK KR"/>
              </a:rPr>
              <a:t>✓ 고정 템플릿 탈피, 동적 계획 수립</a:t>
            </a:r>
          </a:p>
        </p:txBody>
      </p:sp>
      <p:pic>
        <p:nvPicPr>
          <p:cNvPr id="20" name="그림 19" descr="텍스트, 스크린샷, 도표, 폰트이(가) 표시된 사진&#10;&#10;AI 생성 콘텐츠는 정확하지 않을 수 있습니다.">
            <a:extLst>
              <a:ext uri="{FF2B5EF4-FFF2-40B4-BE49-F238E27FC236}">
                <a16:creationId xmlns:a16="http://schemas.microsoft.com/office/drawing/2014/main" id="{D0922EC2-7526-C0C8-9FD4-F324D3681EBA}"/>
              </a:ext>
            </a:extLst>
          </p:cNvPr>
          <p:cNvPicPr>
            <a:picLocks noChangeAspect="1"/>
          </p:cNvPicPr>
          <p:nvPr/>
        </p:nvPicPr>
        <p:blipFill>
          <a:blip r:embed="rId3"/>
          <a:srcRect t="8547" r="-842" b="427"/>
          <a:stretch>
            <a:fillRect/>
          </a:stretch>
        </p:blipFill>
        <p:spPr>
          <a:xfrm>
            <a:off x="5484705" y="4422026"/>
            <a:ext cx="3906558" cy="2442354"/>
          </a:xfrm>
          <a:prstGeom prst="rect">
            <a:avLst/>
          </a:prstGeom>
        </p:spPr>
      </p:pic>
      <p:pic>
        <p:nvPicPr>
          <p:cNvPr id="21" name="그림 20" descr="텍스트, 스크린샷, 폰트, 번호이(가) 표시된 사진&#10;&#10;AI 생성 콘텐츠는 정확하지 않을 수 있습니다.">
            <a:extLst>
              <a:ext uri="{FF2B5EF4-FFF2-40B4-BE49-F238E27FC236}">
                <a16:creationId xmlns:a16="http://schemas.microsoft.com/office/drawing/2014/main" id="{063B6A52-9080-90ED-EFAD-2755C05A8615}"/>
              </a:ext>
            </a:extLst>
          </p:cNvPr>
          <p:cNvPicPr>
            <a:picLocks noChangeAspect="1"/>
          </p:cNvPicPr>
          <p:nvPr/>
        </p:nvPicPr>
        <p:blipFill>
          <a:blip r:embed="rId4"/>
          <a:stretch>
            <a:fillRect/>
          </a:stretch>
        </p:blipFill>
        <p:spPr>
          <a:xfrm>
            <a:off x="9997021" y="2952122"/>
            <a:ext cx="2197220" cy="2311161"/>
          </a:xfrm>
          <a:prstGeom prst="rect">
            <a:avLst/>
          </a:prstGeom>
        </p:spPr>
      </p:pic>
      <p:pic>
        <p:nvPicPr>
          <p:cNvPr id="23" name="그림 22" descr="텍스트, 스크린샷, 폰트, 도표이(가) 표시된 사진&#10;&#10;AI 생성 콘텐츠는 정확하지 않을 수 있습니다.">
            <a:extLst>
              <a:ext uri="{FF2B5EF4-FFF2-40B4-BE49-F238E27FC236}">
                <a16:creationId xmlns:a16="http://schemas.microsoft.com/office/drawing/2014/main" id="{1E4051CB-4319-98BB-D2BC-16B20E1EC813}"/>
              </a:ext>
            </a:extLst>
          </p:cNvPr>
          <p:cNvPicPr>
            <a:picLocks noChangeAspect="1"/>
          </p:cNvPicPr>
          <p:nvPr/>
        </p:nvPicPr>
        <p:blipFill>
          <a:blip r:embed="rId5"/>
          <a:stretch>
            <a:fillRect/>
          </a:stretch>
        </p:blipFill>
        <p:spPr>
          <a:xfrm>
            <a:off x="259645" y="1241072"/>
            <a:ext cx="9753600" cy="5448300"/>
          </a:xfrm>
          <a:prstGeom prst="rect">
            <a:avLst/>
          </a:prstGeom>
        </p:spPr>
      </p:pic>
      <p:sp>
        <p:nvSpPr>
          <p:cNvPr id="22" name="TextBox 21">
            <a:extLst>
              <a:ext uri="{FF2B5EF4-FFF2-40B4-BE49-F238E27FC236}">
                <a16:creationId xmlns:a16="http://schemas.microsoft.com/office/drawing/2014/main" id="{B29B9044-DBB8-ABBA-81D2-2E1F90150F23}"/>
              </a:ext>
            </a:extLst>
          </p:cNvPr>
          <p:cNvSpPr txBox="1"/>
          <p:nvPr/>
        </p:nvSpPr>
        <p:spPr>
          <a:xfrm>
            <a:off x="5857547" y="3519"/>
            <a:ext cx="5687421" cy="484748"/>
          </a:xfrm>
          <a:prstGeom prst="rect">
            <a:avLst/>
          </a:prstGeom>
          <a:noFill/>
        </p:spPr>
        <p:txBody>
          <a:bodyPr wrap="square" lIns="0" tIns="0" rIns="0" bIns="0" anchor="t">
            <a:spAutoFit/>
          </a:bodyPr>
          <a:lstStyle/>
          <a:p>
            <a:pPr>
              <a:spcBef>
                <a:spcPts val="600"/>
              </a:spcBef>
              <a:spcAft>
                <a:spcPts val="200"/>
              </a:spcAft>
            </a:pPr>
            <a:r>
              <a:rPr lang="af-ZA" sz="1050">
                <a:solidFill>
                  <a:srgbClr val="0F172A"/>
                </a:solidFill>
                <a:ea typeface="+mn-lt"/>
                <a:cs typeface="+mn-lt"/>
              </a:rPr>
              <a:t>We trained Biomni-R0-8b on 8 Nvidia A100 GPUs with 2-way ten sor parallel during rollouts, FSDP and 4-way sequence parallel during actor updates. We trained Biomni-R0-32b on 16 Nvidia A100 GPUs with 4-way tensor parallel during rollouts, FSDP and 4-way sequence parallel during actor updates</a:t>
            </a:r>
            <a:endParaRPr lang="ko-KR"/>
          </a:p>
        </p:txBody>
      </p:sp>
    </p:spTree>
    <p:extLst>
      <p:ext uri="{BB962C8B-B14F-4D97-AF65-F5344CB8AC3E}">
        <p14:creationId xmlns:p14="http://schemas.microsoft.com/office/powerpoint/2010/main" val="370895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728655" cy="1005840"/>
          </a:xfrm>
          <a:prstGeom prst="rect">
            <a:avLst/>
          </a:prstGeom>
          <a:noFill/>
        </p:spPr>
        <p:txBody>
          <a:bodyPr wrap="square" lIns="0" tIns="0" rIns="0" bIns="0">
            <a:spAutoFit/>
          </a:bodyPr>
          <a:lstStyle/>
          <a:p>
            <a:pPr algn="l">
              <a:spcAft>
                <a:spcPts val="400"/>
              </a:spcAft>
            </a:pPr>
            <a:r>
              <a:rPr sz="1100" b="1">
                <a:solidFill>
                  <a:srgbClr val="0284C7"/>
                </a:solidFill>
                <a:latin typeface="Arial"/>
              </a:rPr>
              <a:t>EMPIRICAL VALIDATION &amp; CASE STUDIES</a:t>
            </a:r>
          </a:p>
          <a:p>
            <a:pPr algn="l"/>
            <a:r>
              <a:rPr sz="2100" b="1">
                <a:solidFill>
                  <a:srgbClr val="0F172A"/>
                </a:solidFill>
                <a:latin typeface="Noto Sans CJK KR"/>
              </a:rPr>
              <a:t>드라이랩 코드 분석부터 웻랩 로봇 실행까지 전주기 자율 검증을 달성하다</a:t>
            </a:r>
          </a:p>
        </p:txBody>
      </p:sp>
      <p:sp>
        <p:nvSpPr>
          <p:cNvPr id="3" name="Rectangle 2"/>
          <p:cNvSpPr/>
          <p:nvPr/>
        </p:nvSpPr>
        <p:spPr>
          <a:xfrm>
            <a:off x="731520" y="1463040"/>
            <a:ext cx="10728655" cy="1905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737360"/>
            <a:ext cx="34290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737360"/>
            <a:ext cx="3429000"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l"/>
            <a:r>
              <a:rPr sz="950" b="1">
                <a:solidFill>
                  <a:srgbClr val="E0F2FE"/>
                </a:solidFill>
                <a:latin typeface="Arial"/>
              </a:rPr>
              <a:t>CASE 01: PROTEIN ENGINEERING</a:t>
            </a:r>
          </a:p>
          <a:p>
            <a:pPr algn="l">
              <a:spcBef>
                <a:spcPts val="300"/>
              </a:spcBef>
            </a:pPr>
            <a:r>
              <a:rPr sz="1400" b="1">
                <a:solidFill>
                  <a:srgbClr val="FFFFFF"/>
                </a:solidFill>
                <a:latin typeface="Noto Sans CJK KR"/>
              </a:rPr>
              <a:t>단백질 열안정성 자율 최적화</a:t>
            </a:r>
          </a:p>
          <a:p>
            <a:pPr algn="l">
              <a:spcBef>
                <a:spcPts val="200"/>
              </a:spcBef>
            </a:pPr>
            <a:r>
              <a:rPr sz="1050">
                <a:solidFill>
                  <a:srgbClr val="CCFBF1"/>
                </a:solidFill>
                <a:latin typeface="Noto Sans CJK KR"/>
              </a:rPr>
              <a:t>성과: ΔTm 예측 및 안정 변이 설계</a:t>
            </a:r>
          </a:p>
        </p:txBody>
      </p:sp>
      <p:sp>
        <p:nvSpPr>
          <p:cNvPr id="6" name="TextBox 5"/>
          <p:cNvSpPr txBox="1"/>
          <p:nvPr/>
        </p:nvSpPr>
        <p:spPr>
          <a:xfrm>
            <a:off x="868680" y="2999232"/>
            <a:ext cx="3154680" cy="594360"/>
          </a:xfrm>
          <a:prstGeom prst="rect">
            <a:avLst/>
          </a:prstGeom>
          <a:noFill/>
        </p:spPr>
        <p:txBody>
          <a:bodyPr wrap="square" lIns="0" tIns="0" rIns="0" bIns="0">
            <a:spAutoFit/>
          </a:bodyPr>
          <a:lstStyle/>
          <a:p>
            <a:pPr algn="l"/>
            <a:r>
              <a:rPr sz="1050">
                <a:solidFill>
                  <a:srgbClr val="475569"/>
                </a:solidFill>
                <a:latin typeface="Noto Sans CJK KR"/>
              </a:rPr>
              <a:t>표적 단백질 서열로부터 안정성이 증대된 변이체를 도출하는 전 과정을 자율화</a:t>
            </a:r>
          </a:p>
        </p:txBody>
      </p:sp>
      <p:sp>
        <p:nvSpPr>
          <p:cNvPr id="7" name="Rectangle 6"/>
          <p:cNvSpPr/>
          <p:nvPr/>
        </p:nvSpPr>
        <p:spPr>
          <a:xfrm>
            <a:off x="868680" y="3657600"/>
            <a:ext cx="3154680" cy="24231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l">
              <a:spcBef>
                <a:spcPts val="400"/>
              </a:spcBef>
              <a:spcAft>
                <a:spcPts val="200"/>
              </a:spcAft>
            </a:pPr>
            <a:r>
              <a:rPr sz="1000" b="1">
                <a:solidFill>
                  <a:srgbClr val="0F172A"/>
                </a:solidFill>
                <a:latin typeface="Noto Sans CJK KR"/>
              </a:rPr>
              <a:t>1. AlphaFold-2 구동: </a:t>
            </a:r>
            <a:r>
              <a:rPr sz="950">
                <a:solidFill>
                  <a:srgbClr val="475569"/>
                </a:solidFill>
                <a:latin typeface="Noto Sans CJK KR"/>
              </a:rPr>
              <a:t>서열로부터 3D 단백질 원자 구조 자동 예측</a:t>
            </a:r>
          </a:p>
          <a:p>
            <a:pPr algn="l">
              <a:spcBef>
                <a:spcPts val="400"/>
              </a:spcBef>
              <a:spcAft>
                <a:spcPts val="200"/>
              </a:spcAft>
            </a:pPr>
            <a:r>
              <a:rPr sz="1000" b="1">
                <a:solidFill>
                  <a:srgbClr val="0F172A"/>
                </a:solidFill>
                <a:latin typeface="Noto Sans CJK KR"/>
              </a:rPr>
              <a:t>2. ThermoMPNN 산출: </a:t>
            </a:r>
            <a:r>
              <a:rPr sz="950">
                <a:solidFill>
                  <a:srgbClr val="475569"/>
                </a:solidFill>
                <a:latin typeface="Noto Sans CJK KR"/>
              </a:rPr>
              <a:t>각 잔기별 돌연변이에 따른 열안정성(ΔΔG) 계산</a:t>
            </a:r>
          </a:p>
          <a:p>
            <a:pPr algn="l">
              <a:spcBef>
                <a:spcPts val="400"/>
              </a:spcBef>
              <a:spcAft>
                <a:spcPts val="200"/>
              </a:spcAft>
            </a:pPr>
            <a:r>
              <a:rPr sz="1000" b="1">
                <a:solidFill>
                  <a:srgbClr val="0F172A"/>
                </a:solidFill>
                <a:latin typeface="Noto Sans CJK KR"/>
              </a:rPr>
              <a:t>3. 문헌 상동체 마이닝: </a:t>
            </a:r>
            <a:r>
              <a:rPr sz="950">
                <a:solidFill>
                  <a:srgbClr val="475569"/>
                </a:solidFill>
                <a:latin typeface="Noto Sans CJK KR"/>
              </a:rPr>
              <a:t>진화적 보존성 분석 및 안정화 변이 조합 선정</a:t>
            </a:r>
          </a:p>
          <a:p>
            <a:pPr algn="l">
              <a:spcBef>
                <a:spcPts val="400"/>
              </a:spcBef>
              <a:spcAft>
                <a:spcPts val="200"/>
              </a:spcAft>
            </a:pPr>
            <a:r>
              <a:rPr sz="1000" b="1">
                <a:solidFill>
                  <a:srgbClr val="0F172A"/>
                </a:solidFill>
                <a:latin typeface="Noto Sans CJK KR"/>
              </a:rPr>
              <a:t>4. 반복 최적화 루프: </a:t>
            </a:r>
            <a:r>
              <a:rPr sz="950">
                <a:solidFill>
                  <a:srgbClr val="475569"/>
                </a:solidFill>
                <a:latin typeface="Noto Sans CJK KR"/>
              </a:rPr>
              <a:t>에이전트가 가상 변이체를 평가·필터링하여 최종안 제시</a:t>
            </a:r>
          </a:p>
        </p:txBody>
      </p:sp>
      <p:sp>
        <p:nvSpPr>
          <p:cNvPr id="8" name="Rectangle 7"/>
          <p:cNvSpPr/>
          <p:nvPr/>
        </p:nvSpPr>
        <p:spPr>
          <a:xfrm>
            <a:off x="4379976" y="1737360"/>
            <a:ext cx="34290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79976" y="1737360"/>
            <a:ext cx="3429000"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l"/>
            <a:r>
              <a:rPr sz="950" b="1">
                <a:solidFill>
                  <a:srgbClr val="E0F2FE"/>
                </a:solidFill>
                <a:latin typeface="Arial"/>
              </a:rPr>
              <a:t>CASE 02: MOLECULAR CLONING</a:t>
            </a:r>
          </a:p>
          <a:p>
            <a:pPr algn="l">
              <a:spcBef>
                <a:spcPts val="300"/>
              </a:spcBef>
            </a:pPr>
            <a:r>
              <a:rPr sz="1400" b="1">
                <a:solidFill>
                  <a:srgbClr val="FFFFFF"/>
                </a:solidFill>
                <a:latin typeface="Noto Sans CJK KR"/>
              </a:rPr>
              <a:t>B2M 유전자 녹아웃 클로닝</a:t>
            </a:r>
          </a:p>
          <a:p>
            <a:pPr algn="l">
              <a:spcBef>
                <a:spcPts val="200"/>
              </a:spcBef>
            </a:pPr>
            <a:r>
              <a:rPr sz="1050">
                <a:solidFill>
                  <a:srgbClr val="CCFBF1"/>
                </a:solidFill>
                <a:latin typeface="Noto Sans CJK KR"/>
              </a:rPr>
              <a:t>성과: Wet-lab 실험 성공률 100%</a:t>
            </a:r>
          </a:p>
        </p:txBody>
      </p:sp>
      <p:sp>
        <p:nvSpPr>
          <p:cNvPr id="10" name="TextBox 9"/>
          <p:cNvSpPr txBox="1"/>
          <p:nvPr/>
        </p:nvSpPr>
        <p:spPr>
          <a:xfrm>
            <a:off x="4517136" y="2999232"/>
            <a:ext cx="3154680" cy="594360"/>
          </a:xfrm>
          <a:prstGeom prst="rect">
            <a:avLst/>
          </a:prstGeom>
          <a:noFill/>
        </p:spPr>
        <p:txBody>
          <a:bodyPr wrap="square" lIns="0" tIns="0" rIns="0" bIns="0">
            <a:spAutoFit/>
          </a:bodyPr>
          <a:lstStyle/>
          <a:p>
            <a:pPr algn="l"/>
            <a:r>
              <a:rPr sz="1050">
                <a:solidFill>
                  <a:srgbClr val="475569"/>
                </a:solidFill>
                <a:latin typeface="Noto Sans CJK KR"/>
              </a:rPr>
              <a:t>면역원성 제거를 위한 CRISPR-Cas9 기반 플라스미드 제작 전 과정을 독립 설계</a:t>
            </a:r>
          </a:p>
        </p:txBody>
      </p:sp>
      <p:sp>
        <p:nvSpPr>
          <p:cNvPr id="11" name="Rectangle 10"/>
          <p:cNvSpPr/>
          <p:nvPr/>
        </p:nvSpPr>
        <p:spPr>
          <a:xfrm>
            <a:off x="4517136" y="3657600"/>
            <a:ext cx="3154680" cy="24231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l">
              <a:spcBef>
                <a:spcPts val="400"/>
              </a:spcBef>
              <a:spcAft>
                <a:spcPts val="200"/>
              </a:spcAft>
            </a:pPr>
            <a:r>
              <a:rPr sz="1000" b="1">
                <a:solidFill>
                  <a:srgbClr val="0F172A"/>
                </a:solidFill>
                <a:latin typeface="Noto Sans CJK KR"/>
              </a:rPr>
              <a:t>1. gRNA &amp; 프라이머 설계: </a:t>
            </a:r>
            <a:r>
              <a:rPr sz="950">
                <a:solidFill>
                  <a:srgbClr val="475569"/>
                </a:solidFill>
                <a:latin typeface="Noto Sans CJK KR"/>
              </a:rPr>
              <a:t>표적 B2M 엑손 인식 올리고 및 오프타깃 분석</a:t>
            </a:r>
          </a:p>
          <a:p>
            <a:pPr algn="l">
              <a:spcBef>
                <a:spcPts val="400"/>
              </a:spcBef>
              <a:spcAft>
                <a:spcPts val="200"/>
              </a:spcAft>
            </a:pPr>
            <a:r>
              <a:rPr sz="1000" b="1">
                <a:solidFill>
                  <a:srgbClr val="0F172A"/>
                </a:solidFill>
                <a:latin typeface="Noto Sans CJK KR"/>
              </a:rPr>
              <a:t>2. 제한효소/벡터 선택: </a:t>
            </a:r>
            <a:r>
              <a:rPr sz="950">
                <a:solidFill>
                  <a:srgbClr val="475569"/>
                </a:solidFill>
                <a:latin typeface="Noto Sans CJK KR"/>
              </a:rPr>
              <a:t>pSpCas9(BB)-2A-Puro 벡터 및 BbsI 클로닝 전략</a:t>
            </a:r>
          </a:p>
          <a:p>
            <a:pPr algn="l">
              <a:spcBef>
                <a:spcPts val="400"/>
              </a:spcBef>
              <a:spcAft>
                <a:spcPts val="200"/>
              </a:spcAft>
            </a:pPr>
            <a:r>
              <a:rPr sz="1000" b="1">
                <a:solidFill>
                  <a:srgbClr val="0F172A"/>
                </a:solidFill>
                <a:latin typeface="Noto Sans CJK KR"/>
              </a:rPr>
              <a:t>3. 상세 실험 프로토콜 생성: </a:t>
            </a:r>
            <a:r>
              <a:rPr sz="950">
                <a:solidFill>
                  <a:srgbClr val="475569"/>
                </a:solidFill>
                <a:latin typeface="Noto Sans CJK KR"/>
              </a:rPr>
              <a:t>어닐링, 라이게이션, 형질전환 단계별 파라미터</a:t>
            </a:r>
          </a:p>
          <a:p>
            <a:pPr algn="l">
              <a:spcBef>
                <a:spcPts val="400"/>
              </a:spcBef>
              <a:spcAft>
                <a:spcPts val="200"/>
              </a:spcAft>
            </a:pPr>
            <a:r>
              <a:rPr sz="1000" b="1">
                <a:solidFill>
                  <a:srgbClr val="0F172A"/>
                </a:solidFill>
                <a:latin typeface="Noto Sans CJK KR"/>
              </a:rPr>
              <a:t>4. 실제 습식 실험 검증: </a:t>
            </a:r>
            <a:r>
              <a:rPr sz="950">
                <a:solidFill>
                  <a:srgbClr val="475569"/>
                </a:solidFill>
                <a:latin typeface="Noto Sans CJK KR"/>
              </a:rPr>
              <a:t>인간 연구자가 프로토콜대로 수행하여 클로닝 성공</a:t>
            </a:r>
          </a:p>
        </p:txBody>
      </p:sp>
      <p:sp>
        <p:nvSpPr>
          <p:cNvPr id="12" name="Rectangle 11"/>
          <p:cNvSpPr/>
          <p:nvPr/>
        </p:nvSpPr>
        <p:spPr>
          <a:xfrm>
            <a:off x="8028432" y="1737360"/>
            <a:ext cx="3429000" cy="4480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28432" y="1737360"/>
            <a:ext cx="3429000"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l"/>
            <a:r>
              <a:rPr sz="950" b="1">
                <a:solidFill>
                  <a:srgbClr val="E0F2FE"/>
                </a:solidFill>
                <a:latin typeface="Arial"/>
              </a:rPr>
              <a:t>CASE 03: HARDWARE AUTOMATION</a:t>
            </a:r>
          </a:p>
          <a:p>
            <a:pPr algn="l">
              <a:spcBef>
                <a:spcPts val="300"/>
              </a:spcBef>
            </a:pPr>
            <a:r>
              <a:rPr sz="1400" b="1">
                <a:solidFill>
                  <a:srgbClr val="FFFFFF"/>
                </a:solidFill>
                <a:latin typeface="Noto Sans CJK KR"/>
              </a:rPr>
              <a:t>로봇 액체 핸들러 물리 제어</a:t>
            </a:r>
          </a:p>
          <a:p>
            <a:pPr algn="l">
              <a:spcBef>
                <a:spcPts val="200"/>
              </a:spcBef>
            </a:pPr>
            <a:r>
              <a:rPr sz="1050">
                <a:solidFill>
                  <a:srgbClr val="CCFBF1"/>
                </a:solidFill>
                <a:latin typeface="Noto Sans CJK KR"/>
              </a:rPr>
              <a:t>성과: Hamilton STAR 로봇 자율 제어</a:t>
            </a:r>
          </a:p>
        </p:txBody>
      </p:sp>
      <p:sp>
        <p:nvSpPr>
          <p:cNvPr id="14" name="TextBox 13"/>
          <p:cNvSpPr txBox="1"/>
          <p:nvPr/>
        </p:nvSpPr>
        <p:spPr>
          <a:xfrm>
            <a:off x="8165592" y="2999232"/>
            <a:ext cx="3154680" cy="594360"/>
          </a:xfrm>
          <a:prstGeom prst="rect">
            <a:avLst/>
          </a:prstGeom>
          <a:noFill/>
        </p:spPr>
        <p:txBody>
          <a:bodyPr wrap="square" lIns="0" tIns="0" rIns="0" bIns="0">
            <a:spAutoFit/>
          </a:bodyPr>
          <a:lstStyle/>
          <a:p>
            <a:pPr algn="l"/>
            <a:r>
              <a:rPr sz="1050">
                <a:solidFill>
                  <a:srgbClr val="475569"/>
                </a:solidFill>
                <a:latin typeface="Noto Sans CJK KR"/>
              </a:rPr>
              <a:t>생성된 가상 프로토콜을 물리적 실험실 장비 제어 코드로 직접 변환 및 구동</a:t>
            </a:r>
          </a:p>
        </p:txBody>
      </p:sp>
      <p:sp>
        <p:nvSpPr>
          <p:cNvPr id="15" name="Rectangle 14"/>
          <p:cNvSpPr/>
          <p:nvPr/>
        </p:nvSpPr>
        <p:spPr>
          <a:xfrm>
            <a:off x="8165592" y="3657600"/>
            <a:ext cx="3154680" cy="24231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l">
              <a:spcBef>
                <a:spcPts val="400"/>
              </a:spcBef>
              <a:spcAft>
                <a:spcPts val="200"/>
              </a:spcAft>
            </a:pPr>
            <a:r>
              <a:rPr sz="1000" b="1">
                <a:solidFill>
                  <a:srgbClr val="0F172A"/>
                </a:solidFill>
                <a:latin typeface="Noto Sans CJK KR"/>
              </a:rPr>
              <a:t>1. PyLabRobot 연동: </a:t>
            </a:r>
            <a:r>
              <a:rPr sz="950">
                <a:solidFill>
                  <a:srgbClr val="475569"/>
                </a:solidFill>
                <a:latin typeface="Noto Sans CJK KR"/>
              </a:rPr>
              <a:t>복잡한 액체 핸들러 API를 파이썬 코드로 추상화</a:t>
            </a:r>
          </a:p>
          <a:p>
            <a:pPr algn="l">
              <a:spcBef>
                <a:spcPts val="400"/>
              </a:spcBef>
              <a:spcAft>
                <a:spcPts val="200"/>
              </a:spcAft>
            </a:pPr>
            <a:r>
              <a:rPr sz="1000" b="1">
                <a:solidFill>
                  <a:srgbClr val="0F172A"/>
                </a:solidFill>
                <a:latin typeface="Noto Sans CJK KR"/>
              </a:rPr>
              <a:t>2. 피펫팅 &amp; 분주 프로토콜: </a:t>
            </a:r>
            <a:r>
              <a:rPr sz="950">
                <a:solidFill>
                  <a:srgbClr val="475569"/>
                </a:solidFill>
                <a:latin typeface="Noto Sans CJK KR"/>
              </a:rPr>
              <a:t>플레이트 좌표, 흡입 속도, 믹싱 사이클 자동 지정</a:t>
            </a:r>
          </a:p>
          <a:p>
            <a:pPr algn="l">
              <a:spcBef>
                <a:spcPts val="400"/>
              </a:spcBef>
              <a:spcAft>
                <a:spcPts val="200"/>
              </a:spcAft>
            </a:pPr>
            <a:r>
              <a:rPr sz="1000" b="1">
                <a:solidFill>
                  <a:srgbClr val="0F172A"/>
                </a:solidFill>
                <a:latin typeface="Noto Sans CJK KR"/>
              </a:rPr>
              <a:t>3. 연속 희석(Serial Dilution): </a:t>
            </a:r>
            <a:r>
              <a:rPr sz="950">
                <a:solidFill>
                  <a:srgbClr val="475569"/>
                </a:solidFill>
                <a:latin typeface="Noto Sans CJK KR"/>
              </a:rPr>
              <a:t>농도 구배 시약 분주 및 바인딩 어세이 전처리</a:t>
            </a:r>
          </a:p>
          <a:p>
            <a:pPr algn="l">
              <a:spcBef>
                <a:spcPts val="400"/>
              </a:spcBef>
              <a:spcAft>
                <a:spcPts val="200"/>
              </a:spcAft>
            </a:pPr>
            <a:r>
              <a:rPr sz="1000" b="1">
                <a:solidFill>
                  <a:srgbClr val="0F172A"/>
                </a:solidFill>
                <a:latin typeface="Noto Sans CJK KR"/>
              </a:rPr>
              <a:t>4. 폐루프(Closed-loop) 실현: </a:t>
            </a:r>
            <a:r>
              <a:rPr sz="950">
                <a:solidFill>
                  <a:srgbClr val="475569"/>
                </a:solidFill>
                <a:latin typeface="Noto Sans CJK KR"/>
              </a:rPr>
              <a:t>인공지능 소프트웨어와 실험실 하드웨어의 완전 결합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CB255474-0761-18BC-1109-598F843E62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CC55DA-5CB5-3CD5-9B62-A3CBDBD8CC4F}"/>
              </a:ext>
            </a:extLst>
          </p:cNvPr>
          <p:cNvSpPr txBox="1"/>
          <p:nvPr/>
        </p:nvSpPr>
        <p:spPr>
          <a:xfrm>
            <a:off x="731520" y="411480"/>
            <a:ext cx="10728655" cy="1005840"/>
          </a:xfrm>
          <a:prstGeom prst="rect">
            <a:avLst/>
          </a:prstGeom>
          <a:noFill/>
        </p:spPr>
        <p:txBody>
          <a:bodyPr wrap="square" lIns="0" tIns="0" rIns="0" bIns="0">
            <a:spAutoFit/>
          </a:bodyPr>
          <a:lstStyle/>
          <a:p>
            <a:pPr algn="l">
              <a:spcAft>
                <a:spcPts val="400"/>
              </a:spcAft>
            </a:pPr>
            <a:r>
              <a:rPr sz="1100" b="1">
                <a:solidFill>
                  <a:srgbClr val="0284C7"/>
                </a:solidFill>
                <a:latin typeface="Arial"/>
              </a:rPr>
              <a:t>EMPIRICAL VALIDATION &amp; CASE STUDIES</a:t>
            </a:r>
          </a:p>
          <a:p>
            <a:pPr algn="l"/>
            <a:r>
              <a:rPr sz="2100" b="1">
                <a:solidFill>
                  <a:srgbClr val="0F172A"/>
                </a:solidFill>
                <a:latin typeface="Noto Sans CJK KR"/>
              </a:rPr>
              <a:t>드라이랩 코드 분석부터 웻랩 로봇 실행까지 전주기 자율 검증을 달성하다</a:t>
            </a:r>
          </a:p>
        </p:txBody>
      </p:sp>
      <p:sp>
        <p:nvSpPr>
          <p:cNvPr id="3" name="Rectangle 2">
            <a:extLst>
              <a:ext uri="{FF2B5EF4-FFF2-40B4-BE49-F238E27FC236}">
                <a16:creationId xmlns:a16="http://schemas.microsoft.com/office/drawing/2014/main" id="{F0228B95-4AD8-D157-D200-F8587C6C881D}"/>
              </a:ext>
            </a:extLst>
          </p:cNvPr>
          <p:cNvSpPr/>
          <p:nvPr/>
        </p:nvSpPr>
        <p:spPr>
          <a:xfrm>
            <a:off x="731520" y="1463040"/>
            <a:ext cx="10728655" cy="1905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그림 15" descr="텍스트, 스크린샷, 도표, 번호이(가) 표시된 사진&#10;&#10;AI 생성 콘텐츠는 정확하지 않을 수 있습니다.">
            <a:extLst>
              <a:ext uri="{FF2B5EF4-FFF2-40B4-BE49-F238E27FC236}">
                <a16:creationId xmlns:a16="http://schemas.microsoft.com/office/drawing/2014/main" id="{258AECC2-5A48-2115-6234-22494580DA44}"/>
              </a:ext>
            </a:extLst>
          </p:cNvPr>
          <p:cNvPicPr>
            <a:picLocks noChangeAspect="1"/>
          </p:cNvPicPr>
          <p:nvPr/>
        </p:nvPicPr>
        <p:blipFill>
          <a:blip r:embed="rId3"/>
          <a:stretch>
            <a:fillRect/>
          </a:stretch>
        </p:blipFill>
        <p:spPr>
          <a:xfrm>
            <a:off x="321909" y="2580922"/>
            <a:ext cx="9558514" cy="2966156"/>
          </a:xfrm>
          <a:prstGeom prst="rect">
            <a:avLst/>
          </a:prstGeom>
        </p:spPr>
      </p:pic>
      <p:sp>
        <p:nvSpPr>
          <p:cNvPr id="18" name="TextBox 17">
            <a:extLst>
              <a:ext uri="{FF2B5EF4-FFF2-40B4-BE49-F238E27FC236}">
                <a16:creationId xmlns:a16="http://schemas.microsoft.com/office/drawing/2014/main" id="{E4BC729B-3855-9BB7-5252-A8DB533D3C16}"/>
              </a:ext>
            </a:extLst>
          </p:cNvPr>
          <p:cNvSpPr txBox="1"/>
          <p:nvPr/>
        </p:nvSpPr>
        <p:spPr>
          <a:xfrm>
            <a:off x="530013" y="1630454"/>
            <a:ext cx="3154680" cy="161583"/>
          </a:xfrm>
          <a:prstGeom prst="rect">
            <a:avLst/>
          </a:prstGeom>
          <a:noFill/>
        </p:spPr>
        <p:txBody>
          <a:bodyPr wrap="square" lIns="0" tIns="0" rIns="0" bIns="0" anchor="t">
            <a:spAutoFit/>
          </a:bodyPr>
          <a:lstStyle/>
          <a:p>
            <a:r>
              <a:rPr lang="af-ZA" sz="1050">
                <a:solidFill>
                  <a:srgbClr val="475569"/>
                </a:solidFill>
                <a:latin typeface="Noto Sans CJK KR"/>
              </a:rPr>
              <a:t>General Purpose </a:t>
            </a:r>
            <a:endParaRPr lang="ko-KR" altLang="en-US" sz="1050">
              <a:solidFill>
                <a:srgbClr val="475569"/>
              </a:solidFill>
              <a:latin typeface="Noto Sans CJK KR"/>
            </a:endParaRPr>
          </a:p>
        </p:txBody>
      </p:sp>
      <p:pic>
        <p:nvPicPr>
          <p:cNvPr id="19" name="그림 18" descr="텍스트, 스크린샷, 폰트, 번호이(가) 표시된 사진&#10;&#10;AI 생성 콘텐츠는 정확하지 않을 수 있습니다.">
            <a:extLst>
              <a:ext uri="{FF2B5EF4-FFF2-40B4-BE49-F238E27FC236}">
                <a16:creationId xmlns:a16="http://schemas.microsoft.com/office/drawing/2014/main" id="{CCC7AAEA-69FE-F4D8-7388-DE9CE38FD47A}"/>
              </a:ext>
            </a:extLst>
          </p:cNvPr>
          <p:cNvPicPr>
            <a:picLocks noChangeAspect="1"/>
          </p:cNvPicPr>
          <p:nvPr/>
        </p:nvPicPr>
        <p:blipFill>
          <a:blip r:embed="rId4"/>
          <a:stretch>
            <a:fillRect/>
          </a:stretch>
        </p:blipFill>
        <p:spPr>
          <a:xfrm>
            <a:off x="9541581" y="3426531"/>
            <a:ext cx="2647950" cy="2686050"/>
          </a:xfrm>
          <a:prstGeom prst="rect">
            <a:avLst/>
          </a:prstGeom>
        </p:spPr>
      </p:pic>
    </p:spTree>
    <p:extLst>
      <p:ext uri="{BB962C8B-B14F-4D97-AF65-F5344CB8AC3E}">
        <p14:creationId xmlns:p14="http://schemas.microsoft.com/office/powerpoint/2010/main" val="3949373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C548E1F9-3E49-FC00-7FEC-79A5778123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A9D8B0B-68E6-A09F-D8C5-FA0FA87ACFF8}"/>
              </a:ext>
            </a:extLst>
          </p:cNvPr>
          <p:cNvSpPr txBox="1"/>
          <p:nvPr/>
        </p:nvSpPr>
        <p:spPr>
          <a:xfrm>
            <a:off x="731520" y="411480"/>
            <a:ext cx="10728655" cy="1005840"/>
          </a:xfrm>
          <a:prstGeom prst="rect">
            <a:avLst/>
          </a:prstGeom>
          <a:noFill/>
        </p:spPr>
        <p:txBody>
          <a:bodyPr wrap="square" lIns="0" tIns="0" rIns="0" bIns="0">
            <a:spAutoFit/>
          </a:bodyPr>
          <a:lstStyle/>
          <a:p>
            <a:pPr algn="l">
              <a:spcAft>
                <a:spcPts val="400"/>
              </a:spcAft>
            </a:pPr>
            <a:r>
              <a:rPr sz="1100" b="1">
                <a:solidFill>
                  <a:srgbClr val="0284C7"/>
                </a:solidFill>
                <a:latin typeface="Arial"/>
              </a:rPr>
              <a:t>EMPIRICAL VALIDATION &amp; CASE STUDIES</a:t>
            </a:r>
          </a:p>
          <a:p>
            <a:pPr algn="l"/>
            <a:r>
              <a:rPr sz="2100" b="1">
                <a:solidFill>
                  <a:srgbClr val="0F172A"/>
                </a:solidFill>
                <a:latin typeface="Noto Sans CJK KR"/>
              </a:rPr>
              <a:t>드라이랩 코드 분석부터 웻랩 로봇 실행까지 전주기 자율 검증을 달성하다</a:t>
            </a:r>
          </a:p>
        </p:txBody>
      </p:sp>
      <p:sp>
        <p:nvSpPr>
          <p:cNvPr id="3" name="Rectangle 2">
            <a:extLst>
              <a:ext uri="{FF2B5EF4-FFF2-40B4-BE49-F238E27FC236}">
                <a16:creationId xmlns:a16="http://schemas.microsoft.com/office/drawing/2014/main" id="{1EA9E0D2-DA14-89A3-4C36-3F13A2DE9704}"/>
              </a:ext>
            </a:extLst>
          </p:cNvPr>
          <p:cNvSpPr/>
          <p:nvPr/>
        </p:nvSpPr>
        <p:spPr>
          <a:xfrm>
            <a:off x="731520" y="1463040"/>
            <a:ext cx="10728655" cy="1905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CB78E8BC-1543-F404-139E-9A3E82BAF82D}"/>
              </a:ext>
            </a:extLst>
          </p:cNvPr>
          <p:cNvSpPr txBox="1"/>
          <p:nvPr/>
        </p:nvSpPr>
        <p:spPr>
          <a:xfrm>
            <a:off x="530013" y="1630454"/>
            <a:ext cx="3154680" cy="161583"/>
          </a:xfrm>
          <a:prstGeom prst="rect">
            <a:avLst/>
          </a:prstGeom>
          <a:noFill/>
        </p:spPr>
        <p:txBody>
          <a:bodyPr wrap="square" lIns="0" tIns="0" rIns="0" bIns="0" anchor="t">
            <a:spAutoFit/>
          </a:bodyPr>
          <a:lstStyle/>
          <a:p>
            <a:r>
              <a:rPr lang="af-ZA" sz="1050">
                <a:solidFill>
                  <a:srgbClr val="475569"/>
                </a:solidFill>
                <a:latin typeface="Noto Sans CJK KR"/>
              </a:rPr>
              <a:t>General Purpose </a:t>
            </a:r>
            <a:endParaRPr lang="ko-KR" altLang="en-US" sz="1050">
              <a:solidFill>
                <a:srgbClr val="475569"/>
              </a:solidFill>
              <a:latin typeface="Noto Sans CJK KR"/>
            </a:endParaRPr>
          </a:p>
        </p:txBody>
      </p:sp>
      <p:pic>
        <p:nvPicPr>
          <p:cNvPr id="4" name="그림 3" descr="텍스트, 스크린샷, 도표, 폰트이(가) 표시된 사진&#10;&#10;AI 생성 콘텐츠는 정확하지 않을 수 있습니다.">
            <a:extLst>
              <a:ext uri="{FF2B5EF4-FFF2-40B4-BE49-F238E27FC236}">
                <a16:creationId xmlns:a16="http://schemas.microsoft.com/office/drawing/2014/main" id="{DC4E7AD9-8E78-D4C2-B50F-832AB6A07420}"/>
              </a:ext>
            </a:extLst>
          </p:cNvPr>
          <p:cNvPicPr>
            <a:picLocks noChangeAspect="1"/>
          </p:cNvPicPr>
          <p:nvPr/>
        </p:nvPicPr>
        <p:blipFill>
          <a:blip r:embed="rId3"/>
          <a:stretch>
            <a:fillRect/>
          </a:stretch>
        </p:blipFill>
        <p:spPr>
          <a:xfrm>
            <a:off x="353130" y="2162527"/>
            <a:ext cx="6645628" cy="4409723"/>
          </a:xfrm>
          <a:prstGeom prst="rect">
            <a:avLst/>
          </a:prstGeom>
        </p:spPr>
      </p:pic>
      <p:sp>
        <p:nvSpPr>
          <p:cNvPr id="5" name="TextBox 2">
            <a:extLst>
              <a:ext uri="{FF2B5EF4-FFF2-40B4-BE49-F238E27FC236}">
                <a16:creationId xmlns:a16="http://schemas.microsoft.com/office/drawing/2014/main" id="{8CB585FA-D9DF-EA00-C890-90C324076596}"/>
              </a:ext>
            </a:extLst>
          </p:cNvPr>
          <p:cNvSpPr txBox="1"/>
          <p:nvPr/>
        </p:nvSpPr>
        <p:spPr>
          <a:xfrm>
            <a:off x="6995650" y="2384337"/>
            <a:ext cx="5197128" cy="39703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ko-KR">
                <a:ea typeface="+mn-lt"/>
                <a:cs typeface="+mn-lt"/>
              </a:rPr>
              <a:t>Overview of the COVID-19 Phase 2 Wearables Study and analysis workflow. (A) High-frequency heart-rate and step-count data were collected via Fitbit devices from 1,027 participants during the COVID-19 pandemic. Data were processed to establish individual physiological baselines and detect illness-related deviations. (B) 10-step analytical pipeline applied to the full cohort using Biomni software. (C) Key figures generated by Biomni, including population level heart-rate and step-count distributions during COVID-19 positive periods (left) and individual circadian pattern heatmaps (right). (D) Biomni identified key physiological correlations confirm interconnected mechanisms.</a:t>
            </a:r>
            <a:endParaRPr lang="ko-KR"/>
          </a:p>
        </p:txBody>
      </p:sp>
    </p:spTree>
    <p:extLst>
      <p:ext uri="{BB962C8B-B14F-4D97-AF65-F5344CB8AC3E}">
        <p14:creationId xmlns:p14="http://schemas.microsoft.com/office/powerpoint/2010/main" val="1768445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990E6832-F204-E580-4870-E78986781643}"/>
            </a:ext>
          </a:extLst>
        </p:cNvPr>
        <p:cNvGrpSpPr/>
        <p:nvPr/>
      </p:nvGrpSpPr>
      <p:grpSpPr>
        <a:xfrm>
          <a:off x="0" y="0"/>
          <a:ext cx="0" cy="0"/>
          <a:chOff x="0" y="0"/>
          <a:chExt cx="0" cy="0"/>
        </a:xfrm>
      </p:grpSpPr>
      <p:pic>
        <p:nvPicPr>
          <p:cNvPr id="16" name="그림 15" descr="텍스트, 스크린샷이(가) 표시된 사진&#10;&#10;AI 생성 콘텐츠는 정확하지 않을 수 있습니다.">
            <a:extLst>
              <a:ext uri="{FF2B5EF4-FFF2-40B4-BE49-F238E27FC236}">
                <a16:creationId xmlns:a16="http://schemas.microsoft.com/office/drawing/2014/main" id="{935921BE-1E0C-CEA1-67F3-6169D5271E1F}"/>
              </a:ext>
            </a:extLst>
          </p:cNvPr>
          <p:cNvPicPr>
            <a:picLocks noChangeAspect="1"/>
          </p:cNvPicPr>
          <p:nvPr/>
        </p:nvPicPr>
        <p:blipFill>
          <a:blip r:embed="rId3"/>
          <a:srcRect r="-200" b="58575"/>
          <a:stretch>
            <a:fillRect/>
          </a:stretch>
        </p:blipFill>
        <p:spPr>
          <a:xfrm>
            <a:off x="178958" y="0"/>
            <a:ext cx="11834093" cy="4385094"/>
          </a:xfrm>
          <a:prstGeom prst="rect">
            <a:avLst/>
          </a:prstGeom>
        </p:spPr>
      </p:pic>
      <p:pic>
        <p:nvPicPr>
          <p:cNvPr id="17" name="그림 16" descr="텍스트, 스크린샷이(가) 표시된 사진&#10;&#10;AI 생성 콘텐츠는 정확하지 않을 수 있습니다.">
            <a:extLst>
              <a:ext uri="{FF2B5EF4-FFF2-40B4-BE49-F238E27FC236}">
                <a16:creationId xmlns:a16="http://schemas.microsoft.com/office/drawing/2014/main" id="{D9C3F8DE-3D4D-1766-4C81-A6E8497790BD}"/>
              </a:ext>
            </a:extLst>
          </p:cNvPr>
          <p:cNvPicPr>
            <a:picLocks noChangeAspect="1"/>
          </p:cNvPicPr>
          <p:nvPr/>
        </p:nvPicPr>
        <p:blipFill>
          <a:blip r:embed="rId3"/>
          <a:srcRect l="691" t="39924" r="63950" b="29077"/>
          <a:stretch>
            <a:fillRect/>
          </a:stretch>
        </p:blipFill>
        <p:spPr>
          <a:xfrm>
            <a:off x="1760467" y="4493058"/>
            <a:ext cx="2902501" cy="2362121"/>
          </a:xfrm>
          <a:prstGeom prst="rect">
            <a:avLst/>
          </a:prstGeom>
        </p:spPr>
      </p:pic>
      <p:pic>
        <p:nvPicPr>
          <p:cNvPr id="18" name="그림 17" descr="싱크대, 스크린샷, 가전용품, 주방가전이(가) 표시된 사진&#10;&#10;AI 생성 콘텐츠는 정확하지 않을 수 있습니다.">
            <a:extLst>
              <a:ext uri="{FF2B5EF4-FFF2-40B4-BE49-F238E27FC236}">
                <a16:creationId xmlns:a16="http://schemas.microsoft.com/office/drawing/2014/main" id="{495EE2DE-4352-5B7B-6A77-F6DA4ABFA428}"/>
              </a:ext>
            </a:extLst>
          </p:cNvPr>
          <p:cNvPicPr>
            <a:picLocks noChangeAspect="1"/>
          </p:cNvPicPr>
          <p:nvPr/>
        </p:nvPicPr>
        <p:blipFill>
          <a:blip r:embed="rId4"/>
          <a:stretch>
            <a:fillRect/>
          </a:stretch>
        </p:blipFill>
        <p:spPr>
          <a:xfrm>
            <a:off x="5640597" y="4499754"/>
            <a:ext cx="5727221" cy="2358606"/>
          </a:xfrm>
          <a:prstGeom prst="rect">
            <a:avLst/>
          </a:prstGeom>
        </p:spPr>
      </p:pic>
    </p:spTree>
    <p:extLst>
      <p:ext uri="{BB962C8B-B14F-4D97-AF65-F5344CB8AC3E}">
        <p14:creationId xmlns:p14="http://schemas.microsoft.com/office/powerpoint/2010/main" val="1804841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9936D0D8-9570-4580-436A-68B10D7B6ADC}"/>
            </a:ext>
          </a:extLst>
        </p:cNvPr>
        <p:cNvGrpSpPr/>
        <p:nvPr/>
      </p:nvGrpSpPr>
      <p:grpSpPr>
        <a:xfrm>
          <a:off x="0" y="0"/>
          <a:ext cx="0" cy="0"/>
          <a:chOff x="0" y="0"/>
          <a:chExt cx="0" cy="0"/>
        </a:xfrm>
      </p:grpSpPr>
      <p:pic>
        <p:nvPicPr>
          <p:cNvPr id="4" name="그림 3" descr="텍스트, 스크린샷, 폰트, 번호이(가) 표시된 사진&#10;&#10;AI 생성 콘텐츠는 정확하지 않을 수 있습니다.">
            <a:extLst>
              <a:ext uri="{FF2B5EF4-FFF2-40B4-BE49-F238E27FC236}">
                <a16:creationId xmlns:a16="http://schemas.microsoft.com/office/drawing/2014/main" id="{D17FE651-D8AA-B75D-AEF0-EDD7C9278528}"/>
              </a:ext>
            </a:extLst>
          </p:cNvPr>
          <p:cNvPicPr>
            <a:picLocks noChangeAspect="1"/>
          </p:cNvPicPr>
          <p:nvPr/>
        </p:nvPicPr>
        <p:blipFill>
          <a:blip r:embed="rId3"/>
          <a:stretch>
            <a:fillRect/>
          </a:stretch>
        </p:blipFill>
        <p:spPr>
          <a:xfrm>
            <a:off x="1024711" y="0"/>
            <a:ext cx="10142578" cy="6858000"/>
          </a:xfrm>
          <a:prstGeom prst="rect">
            <a:avLst/>
          </a:prstGeom>
        </p:spPr>
      </p:pic>
    </p:spTree>
    <p:extLst>
      <p:ext uri="{BB962C8B-B14F-4D97-AF65-F5344CB8AC3E}">
        <p14:creationId xmlns:p14="http://schemas.microsoft.com/office/powerpoint/2010/main" val="2534165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728655" cy="1005840"/>
          </a:xfrm>
          <a:prstGeom prst="rect">
            <a:avLst/>
          </a:prstGeom>
          <a:noFill/>
        </p:spPr>
        <p:txBody>
          <a:bodyPr wrap="square" lIns="0" tIns="0" rIns="0" bIns="0">
            <a:spAutoFit/>
          </a:bodyPr>
          <a:lstStyle/>
          <a:p>
            <a:pPr algn="l">
              <a:spcAft>
                <a:spcPts val="400"/>
              </a:spcAft>
            </a:pPr>
            <a:r>
              <a:rPr sz="1100" b="1">
                <a:solidFill>
                  <a:srgbClr val="0284C7"/>
                </a:solidFill>
                <a:latin typeface="Arial"/>
              </a:rPr>
              <a:t>BINDING AFFINITY SCREENING FRAMEWORK</a:t>
            </a:r>
          </a:p>
          <a:p>
            <a:pPr algn="l"/>
            <a:r>
              <a:rPr sz="2100" b="1">
                <a:solidFill>
                  <a:srgbClr val="0F172A"/>
                </a:solidFill>
                <a:latin typeface="Noto Sans CJK KR"/>
              </a:rPr>
              <a:t>데이터 마이닝부터 도킹, 딥러닝 스크리닝까지 자율 엔드투엔드 파이프라인을 구축하다</a:t>
            </a:r>
          </a:p>
        </p:txBody>
      </p:sp>
      <p:sp>
        <p:nvSpPr>
          <p:cNvPr id="3" name="Rectangle 2"/>
          <p:cNvSpPr/>
          <p:nvPr/>
        </p:nvSpPr>
        <p:spPr>
          <a:xfrm>
            <a:off x="731520" y="1463040"/>
            <a:ext cx="10728655" cy="1905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691640"/>
            <a:ext cx="10728655" cy="1051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91640"/>
            <a:ext cx="1645920" cy="105156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E0F2FE"/>
                </a:solidFill>
                <a:latin typeface="Arial"/>
              </a:rPr>
              <a:t>STAGE 01
</a:t>
            </a:r>
            <a:r>
              <a:rPr sz="950">
                <a:solidFill>
                  <a:srgbClr val="FFFFFF"/>
                </a:solidFill>
                <a:latin typeface="Arial"/>
              </a:rPr>
              <a:t>BindingDB + PDB API</a:t>
            </a:r>
          </a:p>
        </p:txBody>
      </p:sp>
      <p:sp>
        <p:nvSpPr>
          <p:cNvPr id="6" name="TextBox 5"/>
          <p:cNvSpPr txBox="1"/>
          <p:nvPr/>
        </p:nvSpPr>
        <p:spPr>
          <a:xfrm>
            <a:off x="2606040" y="1801368"/>
            <a:ext cx="8686800" cy="832104"/>
          </a:xfrm>
          <a:prstGeom prst="rect">
            <a:avLst/>
          </a:prstGeom>
          <a:noFill/>
        </p:spPr>
        <p:txBody>
          <a:bodyPr wrap="square" lIns="0" tIns="0" rIns="0" bIns="0">
            <a:spAutoFit/>
          </a:bodyPr>
          <a:lstStyle/>
          <a:p>
            <a:pPr algn="l"/>
            <a:r>
              <a:rPr sz="1350" b="1">
                <a:solidFill>
                  <a:srgbClr val="0F172A"/>
                </a:solidFill>
                <a:latin typeface="Noto Sans CJK KR"/>
              </a:rPr>
              <a:t>실험 데이터 마이닝 &amp; 벤치마크 수집  </a:t>
            </a:r>
            <a:r>
              <a:rPr sz="1100" b="1">
                <a:solidFill>
                  <a:srgbClr val="0284C7"/>
                </a:solidFill>
                <a:latin typeface="Noto Sans CJK KR"/>
              </a:rPr>
              <a:t>[자연어 질의를 통한 대규모 관계형 데이터베이스 동적 검색]</a:t>
            </a:r>
          </a:p>
          <a:p>
            <a:pPr algn="l">
              <a:spcBef>
                <a:spcPts val="400"/>
              </a:spcBef>
            </a:pPr>
            <a:r>
              <a:rPr sz="1100">
                <a:solidFill>
                  <a:srgbClr val="475569"/>
                </a:solidFill>
                <a:latin typeface="Noto Sans CJK KR"/>
              </a:rPr>
              <a:t>표적 단백질에 보고된 화합물들의 Kd, Ki, IC50 실험값 및 복합체 X선 결정구조 데이터를 자동 수집하여 기준선(Baseline) 구축</a:t>
            </a:r>
          </a:p>
        </p:txBody>
      </p:sp>
      <p:sp>
        <p:nvSpPr>
          <p:cNvPr id="7" name="Rectangle 6"/>
          <p:cNvSpPr/>
          <p:nvPr/>
        </p:nvSpPr>
        <p:spPr>
          <a:xfrm>
            <a:off x="731520" y="2880360"/>
            <a:ext cx="10728655" cy="1051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880360"/>
            <a:ext cx="164592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E0F2FE"/>
                </a:solidFill>
                <a:latin typeface="Arial"/>
              </a:rPr>
              <a:t>STAGE 02
</a:t>
            </a:r>
            <a:r>
              <a:rPr sz="950">
                <a:solidFill>
                  <a:srgbClr val="FFFFFF"/>
                </a:solidFill>
                <a:latin typeface="Arial"/>
              </a:rPr>
              <a:t>AlphaFold-2 + DiffDock / pyscreener</a:t>
            </a:r>
          </a:p>
        </p:txBody>
      </p:sp>
      <p:sp>
        <p:nvSpPr>
          <p:cNvPr id="9" name="TextBox 8"/>
          <p:cNvSpPr txBox="1"/>
          <p:nvPr/>
        </p:nvSpPr>
        <p:spPr>
          <a:xfrm>
            <a:off x="2606040" y="2990088"/>
            <a:ext cx="8686800" cy="832104"/>
          </a:xfrm>
          <a:prstGeom prst="rect">
            <a:avLst/>
          </a:prstGeom>
          <a:noFill/>
        </p:spPr>
        <p:txBody>
          <a:bodyPr wrap="square" lIns="0" tIns="0" rIns="0" bIns="0">
            <a:spAutoFit/>
          </a:bodyPr>
          <a:lstStyle/>
          <a:p>
            <a:pPr algn="l"/>
            <a:r>
              <a:rPr sz="1350" b="1">
                <a:solidFill>
                  <a:srgbClr val="0F172A"/>
                </a:solidFill>
                <a:latin typeface="Noto Sans CJK KR"/>
              </a:rPr>
              <a:t>3차원 구조 예측 &amp; 분자 도킹 (Molecular Docking)  </a:t>
            </a:r>
            <a:r>
              <a:rPr sz="1100" b="1">
                <a:solidFill>
                  <a:srgbClr val="0284C7"/>
                </a:solidFill>
                <a:latin typeface="Noto Sans CJK KR"/>
              </a:rPr>
              <a:t>[단백질 3D 모델링 및 생성형 리간드 포즈 결합 예측]</a:t>
            </a:r>
          </a:p>
          <a:p>
            <a:pPr algn="l">
              <a:spcBef>
                <a:spcPts val="400"/>
              </a:spcBef>
            </a:pPr>
            <a:r>
              <a:rPr sz="1100">
                <a:solidFill>
                  <a:srgbClr val="475569"/>
                </a:solidFill>
                <a:latin typeface="Noto Sans CJK KR"/>
              </a:rPr>
              <a:t>미해석 단백질의 3차원 입체 구조를 예측한 후, 분자 도킹 도구를 호출하여 결합 자세(Binding Pose)와 결합 자유에너지(Score) 산출</a:t>
            </a:r>
          </a:p>
        </p:txBody>
      </p:sp>
      <p:sp>
        <p:nvSpPr>
          <p:cNvPr id="10" name="Rectangle 9"/>
          <p:cNvSpPr/>
          <p:nvPr/>
        </p:nvSpPr>
        <p:spPr>
          <a:xfrm>
            <a:off x="731520" y="4069080"/>
            <a:ext cx="10728655" cy="1051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4069080"/>
            <a:ext cx="1645920" cy="105156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E0F2FE"/>
                </a:solidFill>
                <a:latin typeface="Arial"/>
              </a:rPr>
              <a:t>STAGE 03
</a:t>
            </a:r>
            <a:r>
              <a:rPr sz="950">
                <a:solidFill>
                  <a:srgbClr val="FFFFFF"/>
                </a:solidFill>
                <a:latin typeface="Arial"/>
              </a:rPr>
              <a:t>DeepPurpose (DTI 딥러닝 라이브러리)</a:t>
            </a:r>
          </a:p>
        </p:txBody>
      </p:sp>
      <p:sp>
        <p:nvSpPr>
          <p:cNvPr id="12" name="TextBox 11"/>
          <p:cNvSpPr txBox="1"/>
          <p:nvPr/>
        </p:nvSpPr>
        <p:spPr>
          <a:xfrm>
            <a:off x="2606040" y="4178808"/>
            <a:ext cx="8686800" cy="832104"/>
          </a:xfrm>
          <a:prstGeom prst="rect">
            <a:avLst/>
          </a:prstGeom>
          <a:noFill/>
        </p:spPr>
        <p:txBody>
          <a:bodyPr wrap="square" lIns="0" tIns="0" rIns="0" bIns="0">
            <a:spAutoFit/>
          </a:bodyPr>
          <a:lstStyle/>
          <a:p>
            <a:pPr algn="l"/>
            <a:r>
              <a:rPr sz="1350" b="1">
                <a:solidFill>
                  <a:srgbClr val="0F172A"/>
                </a:solidFill>
                <a:latin typeface="Noto Sans CJK KR"/>
              </a:rPr>
              <a:t>대규모 라이브러리 가상 스크리닝 (Virtual Screening)  </a:t>
            </a:r>
            <a:r>
              <a:rPr sz="1100" b="1">
                <a:solidFill>
                  <a:srgbClr val="0284C7"/>
                </a:solidFill>
                <a:latin typeface="Noto Sans CJK KR"/>
              </a:rPr>
              <a:t>[단백질 서열 &amp; 화학 구조식(SMILES) 기반 고속 친화도 추론]</a:t>
            </a:r>
          </a:p>
          <a:p>
            <a:pPr algn="l">
              <a:spcBef>
                <a:spcPts val="400"/>
              </a:spcBef>
            </a:pPr>
            <a:r>
              <a:rPr sz="1100">
                <a:solidFill>
                  <a:srgbClr val="475569"/>
                </a:solidFill>
                <a:latin typeface="Noto Sans CJK KR"/>
              </a:rPr>
              <a:t>수만 개 이상의 후보 화합물 라이브러리에 대해 딥러닝 모델을 병렬 구동하여 결합 친화도가 우수한 상위 히트(Hit) 분자군 고속 압축</a:t>
            </a:r>
          </a:p>
        </p:txBody>
      </p:sp>
      <p:sp>
        <p:nvSpPr>
          <p:cNvPr id="13" name="Rectangle 12"/>
          <p:cNvSpPr/>
          <p:nvPr/>
        </p:nvSpPr>
        <p:spPr>
          <a:xfrm>
            <a:off x="731520" y="5257800"/>
            <a:ext cx="10728655" cy="1051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257800"/>
            <a:ext cx="164592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E0F2FE"/>
                </a:solidFill>
                <a:latin typeface="Arial"/>
              </a:rPr>
              <a:t>STAGE 04
</a:t>
            </a:r>
            <a:r>
              <a:rPr sz="950">
                <a:solidFill>
                  <a:srgbClr val="FFFFFF"/>
                </a:solidFill>
                <a:latin typeface="Arial"/>
              </a:rPr>
              <a:t>ThermoMPNN + PyLabRobot</a:t>
            </a:r>
          </a:p>
        </p:txBody>
      </p:sp>
      <p:sp>
        <p:nvSpPr>
          <p:cNvPr id="15" name="TextBox 14"/>
          <p:cNvSpPr txBox="1"/>
          <p:nvPr/>
        </p:nvSpPr>
        <p:spPr>
          <a:xfrm>
            <a:off x="2606040" y="5367528"/>
            <a:ext cx="8686800" cy="832104"/>
          </a:xfrm>
          <a:prstGeom prst="rect">
            <a:avLst/>
          </a:prstGeom>
          <a:noFill/>
        </p:spPr>
        <p:txBody>
          <a:bodyPr wrap="square" lIns="0" tIns="0" rIns="0" bIns="0">
            <a:spAutoFit/>
          </a:bodyPr>
          <a:lstStyle/>
          <a:p>
            <a:pPr algn="l"/>
            <a:r>
              <a:rPr sz="1350" b="1">
                <a:solidFill>
                  <a:srgbClr val="0F172A"/>
                </a:solidFill>
                <a:latin typeface="Noto Sans CJK KR"/>
              </a:rPr>
              <a:t>결합 부위 변이 설계 &amp; 로봇 실험 연계 (Closed-Loop)  </a:t>
            </a:r>
            <a:r>
              <a:rPr sz="1100" b="1">
                <a:solidFill>
                  <a:srgbClr val="0284C7"/>
                </a:solidFill>
                <a:latin typeface="Noto Sans CJK KR"/>
              </a:rPr>
              <a:t>[친화도 증대 변이 루프 및 자동화 바인딩 어세이 프로토콜]</a:t>
            </a:r>
          </a:p>
          <a:p>
            <a:pPr algn="l">
              <a:spcBef>
                <a:spcPts val="400"/>
              </a:spcBef>
            </a:pPr>
            <a:r>
              <a:rPr sz="1100">
                <a:solidFill>
                  <a:srgbClr val="475569"/>
                </a:solidFill>
                <a:latin typeface="Noto Sans CJK KR"/>
              </a:rPr>
              <a:t>결합 포켓 잔기 변이를 반복 평가하여 친화도를 높이고, Hamilton STAR 로봇을 구동해 연속 희석(Serial dilution) 검증 실험 수행</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728655" cy="1005840"/>
          </a:xfrm>
          <a:prstGeom prst="rect">
            <a:avLst/>
          </a:prstGeom>
          <a:noFill/>
        </p:spPr>
        <p:txBody>
          <a:bodyPr wrap="square" lIns="0" tIns="0" rIns="0" bIns="0">
            <a:spAutoFit/>
          </a:bodyPr>
          <a:lstStyle/>
          <a:p>
            <a:pPr algn="l">
              <a:spcAft>
                <a:spcPts val="400"/>
              </a:spcAft>
            </a:pPr>
            <a:r>
              <a:rPr sz="1100" b="1">
                <a:solidFill>
                  <a:srgbClr val="0284C7"/>
                </a:solidFill>
                <a:latin typeface="Arial"/>
              </a:rPr>
              <a:t>KEY TAKEAWAYS &amp; FUTURE OUTLOOK</a:t>
            </a:r>
          </a:p>
          <a:p>
            <a:pPr algn="l"/>
            <a:r>
              <a:rPr sz="2100" b="1">
                <a:solidFill>
                  <a:srgbClr val="0F172A"/>
                </a:solidFill>
                <a:latin typeface="Noto Sans CJK KR"/>
              </a:rPr>
              <a:t>자율형 에이전트가 가상 스크리닝과 로봇 실험의 폐루프(Closed-Loop)를 완성한다</a:t>
            </a:r>
          </a:p>
        </p:txBody>
      </p:sp>
      <p:sp>
        <p:nvSpPr>
          <p:cNvPr id="3" name="Rectangle 2"/>
          <p:cNvSpPr/>
          <p:nvPr/>
        </p:nvSpPr>
        <p:spPr>
          <a:xfrm>
            <a:off x="731520" y="1463040"/>
            <a:ext cx="10728655" cy="1905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737360"/>
            <a:ext cx="3429000" cy="34747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737360"/>
            <a:ext cx="342900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l"/>
            <a:r>
              <a:rPr sz="950" b="1">
                <a:solidFill>
                  <a:srgbClr val="E0F2FE"/>
                </a:solidFill>
                <a:latin typeface="Arial"/>
              </a:rPr>
              <a:t>ACCELERATION</a:t>
            </a:r>
          </a:p>
          <a:p>
            <a:pPr algn="l">
              <a:spcBef>
                <a:spcPts val="300"/>
              </a:spcBef>
            </a:pPr>
            <a:r>
              <a:rPr sz="1350" b="1">
                <a:solidFill>
                  <a:srgbClr val="FFFFFF"/>
                </a:solidFill>
                <a:latin typeface="Noto Sans CJK KR"/>
              </a:rPr>
              <a:t>신약 발굴 타임라인의 압축</a:t>
            </a:r>
          </a:p>
        </p:txBody>
      </p:sp>
      <p:sp>
        <p:nvSpPr>
          <p:cNvPr id="6" name="TextBox 5"/>
          <p:cNvSpPr txBox="1"/>
          <p:nvPr/>
        </p:nvSpPr>
        <p:spPr>
          <a:xfrm>
            <a:off x="896112" y="2880360"/>
            <a:ext cx="3099816" cy="411480"/>
          </a:xfrm>
          <a:prstGeom prst="rect">
            <a:avLst/>
          </a:prstGeom>
          <a:noFill/>
        </p:spPr>
        <p:txBody>
          <a:bodyPr wrap="square" lIns="0" tIns="0" rIns="0" bIns="0">
            <a:spAutoFit/>
          </a:bodyPr>
          <a:lstStyle/>
          <a:p>
            <a:pPr algn="l"/>
            <a:r>
              <a:rPr sz="1150" b="1">
                <a:solidFill>
                  <a:srgbClr val="0284C7"/>
                </a:solidFill>
                <a:latin typeface="Noto Sans CJK KR"/>
              </a:rPr>
              <a:t>주요 특징: 수개월에서 수일 단위로 단축</a:t>
            </a:r>
          </a:p>
        </p:txBody>
      </p:sp>
      <p:sp>
        <p:nvSpPr>
          <p:cNvPr id="7" name="TextBox 6"/>
          <p:cNvSpPr txBox="1"/>
          <p:nvPr/>
        </p:nvSpPr>
        <p:spPr>
          <a:xfrm>
            <a:off x="896112" y="3337560"/>
            <a:ext cx="3099816" cy="1783080"/>
          </a:xfrm>
          <a:prstGeom prst="rect">
            <a:avLst/>
          </a:prstGeom>
          <a:noFill/>
        </p:spPr>
        <p:txBody>
          <a:bodyPr wrap="square" lIns="0" tIns="0" rIns="0" bIns="0">
            <a:spAutoFit/>
          </a:bodyPr>
          <a:lstStyle/>
          <a:p>
            <a:pPr algn="l">
              <a:spcBef>
                <a:spcPts val="600"/>
              </a:spcBef>
              <a:spcAft>
                <a:spcPts val="200"/>
              </a:spcAft>
            </a:pPr>
            <a:r>
              <a:rPr sz="1050">
                <a:solidFill>
                  <a:srgbClr val="475569"/>
                </a:solidFill>
                <a:latin typeface="Noto Sans CJK KR"/>
              </a:rPr>
              <a:t>• 표적 단백질 구조 확보부터 히트 화합물 스크리닝까지 전 과정을 에이전트가 단일 환경에서 연속 실행</a:t>
            </a:r>
          </a:p>
          <a:p>
            <a:pPr algn="l">
              <a:spcBef>
                <a:spcPts val="600"/>
              </a:spcBef>
              <a:spcAft>
                <a:spcPts val="200"/>
              </a:spcAft>
            </a:pPr>
            <a:r>
              <a:rPr sz="1050">
                <a:solidFill>
                  <a:srgbClr val="475569"/>
                </a:solidFill>
                <a:latin typeface="Noto Sans CJK KR"/>
              </a:rPr>
              <a:t>• 수동 데이터 포맷팅 및 도구 호환성 해결 비용을 전면 제거하여 후보물질 도출 속도 혁신</a:t>
            </a:r>
          </a:p>
        </p:txBody>
      </p:sp>
      <p:sp>
        <p:nvSpPr>
          <p:cNvPr id="8" name="Rectangle 7"/>
          <p:cNvSpPr/>
          <p:nvPr/>
        </p:nvSpPr>
        <p:spPr>
          <a:xfrm>
            <a:off x="4379976" y="1737360"/>
            <a:ext cx="3429000" cy="34747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79976" y="1737360"/>
            <a:ext cx="342900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l"/>
            <a:r>
              <a:rPr sz="950" b="1">
                <a:solidFill>
                  <a:srgbClr val="E0F2FE"/>
                </a:solidFill>
                <a:latin typeface="Arial"/>
              </a:rPr>
              <a:t>RESILIENCE</a:t>
            </a:r>
          </a:p>
          <a:p>
            <a:pPr algn="l">
              <a:spcBef>
                <a:spcPts val="300"/>
              </a:spcBef>
            </a:pPr>
            <a:r>
              <a:rPr sz="1350" b="1">
                <a:solidFill>
                  <a:srgbClr val="FFFFFF"/>
                </a:solidFill>
                <a:latin typeface="Noto Sans CJK KR"/>
              </a:rPr>
              <a:t>코드 기반 자율 오류 복원력</a:t>
            </a:r>
          </a:p>
        </p:txBody>
      </p:sp>
      <p:sp>
        <p:nvSpPr>
          <p:cNvPr id="10" name="TextBox 9"/>
          <p:cNvSpPr txBox="1"/>
          <p:nvPr/>
        </p:nvSpPr>
        <p:spPr>
          <a:xfrm>
            <a:off x="4544568" y="2880360"/>
            <a:ext cx="3099816" cy="411480"/>
          </a:xfrm>
          <a:prstGeom prst="rect">
            <a:avLst/>
          </a:prstGeom>
          <a:noFill/>
        </p:spPr>
        <p:txBody>
          <a:bodyPr wrap="square" lIns="0" tIns="0" rIns="0" bIns="0">
            <a:spAutoFit/>
          </a:bodyPr>
          <a:lstStyle/>
          <a:p>
            <a:pPr algn="l"/>
            <a:r>
              <a:rPr sz="1150" b="1">
                <a:solidFill>
                  <a:srgbClr val="0284C7"/>
                </a:solidFill>
                <a:latin typeface="Noto Sans CJK KR"/>
              </a:rPr>
              <a:t>주요 특징: 자가 디버깅을 통한 완결성</a:t>
            </a:r>
          </a:p>
        </p:txBody>
      </p:sp>
      <p:sp>
        <p:nvSpPr>
          <p:cNvPr id="11" name="TextBox 10"/>
          <p:cNvSpPr txBox="1"/>
          <p:nvPr/>
        </p:nvSpPr>
        <p:spPr>
          <a:xfrm>
            <a:off x="4544568" y="3337560"/>
            <a:ext cx="3099816" cy="1783080"/>
          </a:xfrm>
          <a:prstGeom prst="rect">
            <a:avLst/>
          </a:prstGeom>
          <a:noFill/>
        </p:spPr>
        <p:txBody>
          <a:bodyPr wrap="square" lIns="0" tIns="0" rIns="0" bIns="0">
            <a:spAutoFit/>
          </a:bodyPr>
          <a:lstStyle/>
          <a:p>
            <a:pPr algn="l">
              <a:spcBef>
                <a:spcPts val="600"/>
              </a:spcBef>
              <a:spcAft>
                <a:spcPts val="200"/>
              </a:spcAft>
            </a:pPr>
            <a:r>
              <a:rPr sz="1050">
                <a:solidFill>
                  <a:srgbClr val="475569"/>
                </a:solidFill>
                <a:latin typeface="Noto Sans CJK KR"/>
              </a:rPr>
              <a:t>• 정적 API와 달리 환경 에러, 서열 미스매치, 라이브러리 충돌 시 생성 코드를 즉시 수정하여 재실행</a:t>
            </a:r>
          </a:p>
          <a:p>
            <a:pPr algn="l">
              <a:spcBef>
                <a:spcPts val="600"/>
              </a:spcBef>
              <a:spcAft>
                <a:spcPts val="200"/>
              </a:spcAft>
            </a:pPr>
            <a:r>
              <a:rPr sz="1050">
                <a:solidFill>
                  <a:srgbClr val="475569"/>
                </a:solidFill>
                <a:latin typeface="Noto Sans CJK KR"/>
              </a:rPr>
              <a:t>• 복잡한 생체분자 도메인의 비표준 데이터 예외 상황에서도 연구 중단 없이 파이프라인 완수</a:t>
            </a:r>
          </a:p>
        </p:txBody>
      </p:sp>
      <p:sp>
        <p:nvSpPr>
          <p:cNvPr id="12" name="Rectangle 11"/>
          <p:cNvSpPr/>
          <p:nvPr/>
        </p:nvSpPr>
        <p:spPr>
          <a:xfrm>
            <a:off x="8028432" y="1737360"/>
            <a:ext cx="3429000" cy="34747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28432" y="1737360"/>
            <a:ext cx="342900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l"/>
            <a:r>
              <a:rPr sz="950" b="1">
                <a:solidFill>
                  <a:srgbClr val="E0F2FE"/>
                </a:solidFill>
                <a:latin typeface="Arial"/>
              </a:rPr>
              <a:t>AUTONOMY</a:t>
            </a:r>
          </a:p>
          <a:p>
            <a:pPr algn="l">
              <a:spcBef>
                <a:spcPts val="300"/>
              </a:spcBef>
            </a:pPr>
            <a:r>
              <a:rPr sz="1350" b="1">
                <a:solidFill>
                  <a:srgbClr val="FFFFFF"/>
                </a:solidFill>
                <a:latin typeface="Noto Sans CJK KR"/>
              </a:rPr>
              <a:t>가상 예측과 물리 실험의 결합</a:t>
            </a:r>
          </a:p>
        </p:txBody>
      </p:sp>
      <p:sp>
        <p:nvSpPr>
          <p:cNvPr id="14" name="TextBox 13"/>
          <p:cNvSpPr txBox="1"/>
          <p:nvPr/>
        </p:nvSpPr>
        <p:spPr>
          <a:xfrm>
            <a:off x="8193024" y="2880360"/>
            <a:ext cx="3099816" cy="411480"/>
          </a:xfrm>
          <a:prstGeom prst="rect">
            <a:avLst/>
          </a:prstGeom>
          <a:noFill/>
        </p:spPr>
        <p:txBody>
          <a:bodyPr wrap="square" lIns="0" tIns="0" rIns="0" bIns="0">
            <a:spAutoFit/>
          </a:bodyPr>
          <a:lstStyle/>
          <a:p>
            <a:pPr algn="l"/>
            <a:r>
              <a:rPr sz="1150" b="1">
                <a:solidFill>
                  <a:srgbClr val="0284C7"/>
                </a:solidFill>
                <a:latin typeface="Noto Sans CJK KR"/>
              </a:rPr>
              <a:t>주요 특징: 진정한 Closed-loop 자동화</a:t>
            </a:r>
          </a:p>
        </p:txBody>
      </p:sp>
      <p:sp>
        <p:nvSpPr>
          <p:cNvPr id="15" name="TextBox 14"/>
          <p:cNvSpPr txBox="1"/>
          <p:nvPr/>
        </p:nvSpPr>
        <p:spPr>
          <a:xfrm>
            <a:off x="8193024" y="3337560"/>
            <a:ext cx="3099816" cy="1783080"/>
          </a:xfrm>
          <a:prstGeom prst="rect">
            <a:avLst/>
          </a:prstGeom>
          <a:noFill/>
        </p:spPr>
        <p:txBody>
          <a:bodyPr wrap="square" lIns="0" tIns="0" rIns="0" bIns="0">
            <a:spAutoFit/>
          </a:bodyPr>
          <a:lstStyle/>
          <a:p>
            <a:pPr algn="l">
              <a:spcBef>
                <a:spcPts val="600"/>
              </a:spcBef>
              <a:spcAft>
                <a:spcPts val="200"/>
              </a:spcAft>
            </a:pPr>
            <a:r>
              <a:rPr sz="1050">
                <a:solidFill>
                  <a:srgbClr val="475569"/>
                </a:solidFill>
                <a:latin typeface="Noto Sans CJK KR"/>
              </a:rPr>
              <a:t>• 화면 속 예측값 산출에 그치지 않고, 로봇 제어 코드를 생성해 물리적 바인딩 실험까지 직접 제어</a:t>
            </a:r>
          </a:p>
          <a:p>
            <a:pPr algn="l">
              <a:spcBef>
                <a:spcPts val="600"/>
              </a:spcBef>
              <a:spcAft>
                <a:spcPts val="200"/>
              </a:spcAft>
            </a:pPr>
            <a:r>
              <a:rPr sz="1050">
                <a:solidFill>
                  <a:srgbClr val="475569"/>
                </a:solidFill>
                <a:latin typeface="Noto Sans CJK KR"/>
              </a:rPr>
              <a:t>• 인간 연구자는 고차원 가설 설정에 집중하고, 에이전트가 실증을 자율 반복하는 연구 패러다임 구현</a:t>
            </a:r>
          </a:p>
        </p:txBody>
      </p:sp>
      <p:sp>
        <p:nvSpPr>
          <p:cNvPr id="16" name="Rectangle 15"/>
          <p:cNvSpPr/>
          <p:nvPr/>
        </p:nvSpPr>
        <p:spPr>
          <a:xfrm>
            <a:off x="731520" y="5394960"/>
            <a:ext cx="10728655" cy="868680"/>
          </a:xfrm>
          <a:prstGeom prst="rect">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228600" rIns="228600" rtlCol="0" anchor="ctr"/>
          <a:lstStyle/>
          <a:p>
            <a:pPr algn="l"/>
            <a:r>
              <a:rPr sz="1150" b="1">
                <a:solidFill>
                  <a:srgbClr val="0369A1"/>
                </a:solidFill>
                <a:latin typeface="Noto Sans CJK KR"/>
              </a:rPr>
              <a:t>미래 연구 패러다임: </a:t>
            </a:r>
            <a:r>
              <a:rPr sz="1050">
                <a:solidFill>
                  <a:srgbClr val="0F172A"/>
                </a:solidFill>
                <a:latin typeface="Noto Sans CJK KR"/>
              </a:rPr>
              <a:t>Biomni는 파편화된 바이오의학 소프트웨어와 데이터 생태계를 자연어와 코드로 유기적으로 묶어내는 토대를 마련했습니다. 결합 친화도 스크리닝과 같은 정밀 연구에서 인간 연구자와 자율 에이전트의 긴밀한 협력은 신약 개발의 비용과 기간을 획기적으로 절감할 것입니다.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와이드스크린</PresentationFormat>
  <Paragraphs>0</Paragraphs>
  <Slides>11</Slides>
  <Notes>11</Notes>
  <HiddenSlides>0</HiddenSlides>
  <MMClips>0</MMClips>
  <ScaleCrop>false</ScaleCrop>
  <HeadingPairs>
    <vt:vector size="4" baseType="variant">
      <vt:variant>
        <vt:lpstr>테마</vt:lpstr>
      </vt:variant>
      <vt:variant>
        <vt:i4>1</vt:i4>
      </vt:variant>
      <vt:variant>
        <vt:lpstr>슬라이드 제목</vt:lpstr>
      </vt:variant>
      <vt:variant>
        <vt:i4>11</vt:i4>
      </vt:variant>
    </vt:vector>
  </HeadingPairs>
  <TitlesOfParts>
    <vt:vector size="12"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75</cp:revision>
  <dcterms:created xsi:type="dcterms:W3CDTF">2013-01-27T09:14:16Z</dcterms:created>
  <dcterms:modified xsi:type="dcterms:W3CDTF">2026-10-17T02:07:08Z</dcterms:modified>
  <cp:category/>
</cp:coreProperties>
</file>